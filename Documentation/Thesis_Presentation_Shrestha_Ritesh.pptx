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8" r:id="rId3"/>
    <p:sldId id="259" r:id="rId4"/>
    <p:sldId id="257" r:id="rId5"/>
  </p:sldIdLst>
  <p:sldSz cx="9144000" cy="5143500" type="screen16x9"/>
  <p:notesSz cx="6858000" cy="9144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A300"/>
    <a:srgbClr val="FDCA00"/>
    <a:srgbClr val="9C1C26"/>
    <a:srgbClr val="312C8C"/>
    <a:srgbClr val="000000"/>
    <a:srgbClr val="B5B5B5"/>
    <a:srgbClr val="E950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13" autoAdjust="0"/>
    <p:restoredTop sz="91188" autoAdjust="0"/>
  </p:normalViewPr>
  <p:slideViewPr>
    <p:cSldViewPr snapToObjects="1">
      <p:cViewPr varScale="1">
        <p:scale>
          <a:sx n="191" d="100"/>
          <a:sy n="191" d="100"/>
        </p:scale>
        <p:origin x="1452" y="15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CE97DB1B-40A1-5247-CCCA-7E871F34FB3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90500" y="387350"/>
            <a:ext cx="5403850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8000" tIns="0" rIns="0" bIns="0" numCol="1" anchor="ctr" anchorCtr="0" compatLnSpc="1">
            <a:prstTxWarp prst="textNoShape">
              <a:avLst/>
            </a:prstTxWarp>
          </a:bodyPr>
          <a:lstStyle>
            <a:lvl1pPr eaLnBrk="1" hangingPunct="1">
              <a:lnSpc>
                <a:spcPts val="1300"/>
              </a:lnSpc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BD179BEA-EB87-7001-9D8D-C111B010FD2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190500" y="8567738"/>
            <a:ext cx="13303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08B7A686-396D-4677-A3CA-F76FDA9BC1D5}" type="datetime4">
              <a:rPr lang="de-DE"/>
              <a:pPr>
                <a:defRPr/>
              </a:pPr>
              <a:t>8. Januar 2023</a:t>
            </a:fld>
            <a:endParaRPr lang="de-DE"/>
          </a:p>
        </p:txBody>
      </p:sp>
      <p:sp>
        <p:nvSpPr>
          <p:cNvPr id="50180" name="Rectangle 4">
            <a:extLst>
              <a:ext uri="{FF2B5EF4-FFF2-40B4-BE49-F238E27FC236}">
                <a16:creationId xmlns:a16="http://schemas.microsoft.com/office/drawing/2014/main" id="{9499C995-4E3F-3036-497D-47C1C4FF02E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520825" y="8567738"/>
            <a:ext cx="4464050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50181" name="Rectangle 5">
            <a:extLst>
              <a:ext uri="{FF2B5EF4-FFF2-40B4-BE49-F238E27FC236}">
                <a16:creationId xmlns:a16="http://schemas.microsoft.com/office/drawing/2014/main" id="{FBE640B1-873A-94B8-8A31-5536D85B3A0B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999163" y="8567738"/>
            <a:ext cx="6699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b="1">
                <a:latin typeface="Stafford" pitchFamily="2" charset="0"/>
              </a:defRPr>
            </a:lvl1pPr>
          </a:lstStyle>
          <a:p>
            <a:pPr>
              <a:defRPr/>
            </a:pPr>
            <a:r>
              <a:rPr lang="de-DE" altLang="en-US"/>
              <a:t>|  </a:t>
            </a:r>
            <a:fld id="{0D3CCF04-7849-4E38-BE10-50BAF3FD9F63}" type="slidenum">
              <a:rPr lang="de-DE" altLang="en-US" smtClean="0"/>
              <a:pPr>
                <a:defRPr/>
              </a:pPr>
              <a:t>‹#›</a:t>
            </a:fld>
            <a:endParaRPr lang="de-DE" altLang="en-US"/>
          </a:p>
        </p:txBody>
      </p:sp>
      <p:pic>
        <p:nvPicPr>
          <p:cNvPr id="4102" name="Picture 6" descr="tud_logo">
            <a:extLst>
              <a:ext uri="{FF2B5EF4-FFF2-40B4-BE49-F238E27FC236}">
                <a16:creationId xmlns:a16="http://schemas.microsoft.com/office/drawing/2014/main" id="{DA3C379B-039B-9736-611B-8E23233A5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400" y="360363"/>
            <a:ext cx="928688" cy="41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7" name="Rectangle 7">
            <a:extLst>
              <a:ext uri="{FF2B5EF4-FFF2-40B4-BE49-F238E27FC236}">
                <a16:creationId xmlns:a16="http://schemas.microsoft.com/office/drawing/2014/main" id="{C832D807-53E1-9FBA-CEF7-3E2A5C250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4104" name="Line 8">
            <a:extLst>
              <a:ext uri="{FF2B5EF4-FFF2-40B4-BE49-F238E27FC236}">
                <a16:creationId xmlns:a16="http://schemas.microsoft.com/office/drawing/2014/main" id="{54002981-9706-DF11-A5BD-EFA0806EAE3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5" name="Line 9">
            <a:extLst>
              <a:ext uri="{FF2B5EF4-FFF2-40B4-BE49-F238E27FC236}">
                <a16:creationId xmlns:a16="http://schemas.microsoft.com/office/drawing/2014/main" id="{5ADB8796-B620-C43D-AAC4-BB3533624CE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49630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6" name="Line 10">
            <a:extLst>
              <a:ext uri="{FF2B5EF4-FFF2-40B4-BE49-F238E27FC236}">
                <a16:creationId xmlns:a16="http://schemas.microsoft.com/office/drawing/2014/main" id="{94E8A0B6-C737-1095-8A4B-87910BDB9F6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777875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13" descr="tud_logo">
            <a:extLst>
              <a:ext uri="{FF2B5EF4-FFF2-40B4-BE49-F238E27FC236}">
                <a16:creationId xmlns:a16="http://schemas.microsoft.com/office/drawing/2014/main" id="{25AAB025-6227-E2C2-3E32-18BDEE66E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2463" y="360363"/>
            <a:ext cx="935037" cy="420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Rectangle 3">
            <a:extLst>
              <a:ext uri="{FF2B5EF4-FFF2-40B4-BE49-F238E27FC236}">
                <a16:creationId xmlns:a16="http://schemas.microsoft.com/office/drawing/2014/main" id="{D3744C56-5FB0-A5BB-E765-32920295BD0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188913" y="8685213"/>
            <a:ext cx="16192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3B2A7E3D-D26F-4243-85E6-11209E462D36}" type="datetime4">
              <a:rPr lang="de-DE"/>
              <a:pPr>
                <a:defRPr/>
              </a:pPr>
              <a:t>8. Januar 2023</a:t>
            </a:fld>
            <a:endParaRPr lang="de-DE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E8353360-843D-2E7F-0D7E-79FFCCD6003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688975" y="923925"/>
            <a:ext cx="5461000" cy="30718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AA1D431F-FE81-D528-F167-00056E6C096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90500" y="4284663"/>
            <a:ext cx="6477000" cy="428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108ADF4-BD61-2127-A9B9-619C423F026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808163" y="8685213"/>
            <a:ext cx="41052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B9A20EA9-4E2F-91AA-F463-79015562BA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913438" y="8685213"/>
            <a:ext cx="9429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ts val="1300"/>
              </a:lnSpc>
              <a:defRPr sz="1000">
                <a:latin typeface="Stafford" pitchFamily="2" charset="0"/>
              </a:defRPr>
            </a:lvl1pPr>
          </a:lstStyle>
          <a:p>
            <a:pPr>
              <a:defRPr/>
            </a:pPr>
            <a:r>
              <a:rPr lang="de-DE" altLang="en-US"/>
              <a:t>|  </a:t>
            </a:r>
            <a:fld id="{89A65719-4C9F-411D-AF3C-55B6FB940FFC}" type="slidenum">
              <a:rPr lang="de-DE" altLang="en-US" smtClean="0"/>
              <a:pPr>
                <a:defRPr/>
              </a:pPr>
              <a:t>‹#›</a:t>
            </a:fld>
            <a:endParaRPr lang="de-DE" altLang="en-US"/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8B1A39D5-5988-6276-E287-AF5BB35985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387350"/>
            <a:ext cx="5403850" cy="393700"/>
          </a:xfrm>
          <a:prstGeom prst="rect">
            <a:avLst/>
          </a:prstGeom>
          <a:noFill/>
          <a:ln>
            <a:noFill/>
          </a:ln>
        </p:spPr>
        <p:txBody>
          <a:bodyPr lIns="108000" tIns="0" rIns="0" bIns="0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lnSpc>
                <a:spcPts val="1300"/>
              </a:lnSpc>
              <a:defRPr/>
            </a:pPr>
            <a:endParaRPr lang="de-DE" altLang="de-DE" sz="1000" b="1">
              <a:latin typeface="Stafford" pitchFamily="2" charset="0"/>
            </a:endParaRPr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B2359B56-B575-A36A-62A3-BB1C32EF9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3082" name="Line 10">
            <a:extLst>
              <a:ext uri="{FF2B5EF4-FFF2-40B4-BE49-F238E27FC236}">
                <a16:creationId xmlns:a16="http://schemas.microsoft.com/office/drawing/2014/main" id="{DF17AFAD-1A0A-3FB3-9578-2ECF3A7C5F5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3" name="Line 11">
            <a:extLst>
              <a:ext uri="{FF2B5EF4-FFF2-40B4-BE49-F238E27FC236}">
                <a16:creationId xmlns:a16="http://schemas.microsoft.com/office/drawing/2014/main" id="{28C0EB63-97F3-968D-3300-CD97D881308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78105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2E6B16EE-5A2C-BF4E-A42C-F0F0C7A6C14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685213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5" name="Line 14">
            <a:extLst>
              <a:ext uri="{FF2B5EF4-FFF2-40B4-BE49-F238E27FC236}">
                <a16:creationId xmlns:a16="http://schemas.microsoft.com/office/drawing/2014/main" id="{E9FC1DC2-CFB1-42BA-DC13-CC6714C9C4B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4103688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1pPr>
    <a:lvl2pPr marL="4572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2pPr>
    <a:lvl3pPr marL="9144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3pPr>
    <a:lvl4pPr marL="13716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4pPr>
    <a:lvl5pPr marL="18288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informatik.tu-darmstadt.de/systems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A095C1-A07F-F6A4-A853-01D4C8E1E9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84163"/>
            <a:ext cx="8786812" cy="1566862"/>
          </a:xfrm>
          <a:prstGeom prst="rect">
            <a:avLst/>
          </a:prstGeom>
          <a:solidFill>
            <a:srgbClr val="9C1C26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defRPr/>
            </a:pPr>
            <a:endParaRPr lang="de-DE" altLang="de-DE"/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1E393069-EEB7-DA41-DB57-D7E1BD9E5B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79388" y="155575"/>
            <a:ext cx="8786812" cy="109538"/>
          </a:xfrm>
          <a:prstGeom prst="rect">
            <a:avLst/>
          </a:prstGeom>
          <a:solidFill>
            <a:srgbClr val="9C1C26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5" name="Line 14">
            <a:extLst>
              <a:ext uri="{FF2B5EF4-FFF2-40B4-BE49-F238E27FC236}">
                <a16:creationId xmlns:a16="http://schemas.microsoft.com/office/drawing/2014/main" id="{DFB720B0-B14A-4054-F9AC-E00EF3D24123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1851025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15">
            <a:extLst>
              <a:ext uri="{FF2B5EF4-FFF2-40B4-BE49-F238E27FC236}">
                <a16:creationId xmlns:a16="http://schemas.microsoft.com/office/drawing/2014/main" id="{A6F609E3-B148-CAB3-C6AB-07258C0B75C7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14">
            <a:extLst>
              <a:ext uri="{FF2B5EF4-FFF2-40B4-BE49-F238E27FC236}">
                <a16:creationId xmlns:a16="http://schemas.microsoft.com/office/drawing/2014/main" id="{D37362A2-77E1-4268-9065-E9547FC22273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85750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C19BC082-84C3-9E39-4711-087A2B38AC6E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4C9207C-9F80-4C03-91CA-81700BC7AF91}" type="datetime1">
              <a:rPr lang="de-DE" altLang="en-US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08.01.2023</a:t>
            </a:fld>
            <a:r>
              <a:rPr lang="de-DE" altLang="en-US" sz="1000" dirty="0">
                <a:cs typeface="Tahoma" panose="020B0604030504040204" pitchFamily="34" charset="0"/>
              </a:rPr>
              <a:t>  |  Institute </a:t>
            </a:r>
            <a:r>
              <a:rPr lang="en-US" sz="1000" dirty="0" err="1">
                <a:hlinkClick r:id="rId2"/>
              </a:rPr>
              <a:t>Systems@TUDa</a:t>
            </a:r>
            <a:r>
              <a:rPr lang="en-US" sz="1000" dirty="0">
                <a:hlinkClick r:id="rId2"/>
              </a:rPr>
              <a:t> Group</a:t>
            </a:r>
            <a:r>
              <a:rPr lang="de-DE" altLang="en-US" sz="1000" dirty="0">
                <a:cs typeface="Tahoma" panose="020B0604030504040204" pitchFamily="34" charset="0"/>
              </a:rPr>
              <a:t>  |  </a:t>
            </a:r>
            <a:r>
              <a:rPr lang="en-US" sz="1000" dirty="0"/>
              <a:t>Distributed and Networked Systems </a:t>
            </a:r>
            <a:r>
              <a:rPr lang="de-DE" altLang="en-US" sz="1000" dirty="0">
                <a:cs typeface="Tahoma" panose="020B0604030504040204" pitchFamily="34" charset="0"/>
              </a:rPr>
              <a:t>|  Prof. </a:t>
            </a:r>
            <a:r>
              <a:rPr lang="en-US" sz="1000" b="0" dirty="0" err="1"/>
              <a:t>Zsolt</a:t>
            </a:r>
            <a:r>
              <a:rPr lang="en-US" sz="1000" b="0" dirty="0"/>
              <a:t> István</a:t>
            </a:r>
            <a:r>
              <a:rPr lang="de-DE" altLang="en-US" sz="1000" dirty="0">
                <a:cs typeface="Tahoma" panose="020B0604030504040204" pitchFamily="34" charset="0"/>
              </a:rPr>
              <a:t>  |  Ritesh Shrestha</a:t>
            </a:r>
            <a:endParaRPr lang="en-US" sz="1000" b="0" dirty="0"/>
          </a:p>
          <a:p>
            <a:pPr eaLnBrk="1" hangingPunct="1">
              <a:defRPr/>
            </a:pPr>
            <a:endParaRPr lang="de-DE" altLang="en-US" sz="1000" dirty="0">
              <a:cs typeface="Tahoma" panose="020B0604030504040204" pitchFamily="34" charset="0"/>
            </a:endParaRPr>
          </a:p>
          <a:p>
            <a:pPr eaLnBrk="1" hangingPunct="1">
              <a:defRPr/>
            </a:pPr>
            <a:endParaRPr lang="de-DE" altLang="en-US" sz="1000" dirty="0">
              <a:cs typeface="Tahoma" panose="020B0604030504040204" pitchFamily="34" charset="0"/>
            </a:endParaRPr>
          </a:p>
        </p:txBody>
      </p:sp>
      <p:pic>
        <p:nvPicPr>
          <p:cNvPr id="9" name="Picture 9" descr="tud_logo">
            <a:extLst>
              <a:ext uri="{FF2B5EF4-FFF2-40B4-BE49-F238E27FC236}">
                <a16:creationId xmlns:a16="http://schemas.microsoft.com/office/drawing/2014/main" id="{E471B585-67A6-F6CC-DBA2-1FE1338C3F3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51520" y="1095623"/>
            <a:ext cx="6840760" cy="708422"/>
          </a:xfrm>
        </p:spPr>
        <p:txBody>
          <a:bodyPr tIns="0" bIns="0"/>
          <a:lstStyle>
            <a:lvl1pPr marL="0" indent="0">
              <a:spcBef>
                <a:spcPct val="0"/>
              </a:spcBef>
              <a:buFont typeface="Wingdings" pitchFamily="2" charset="2"/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/>
          </p:nvPr>
        </p:nvSpPr>
        <p:spPr>
          <a:xfrm>
            <a:off x="270898" y="375294"/>
            <a:ext cx="6821383" cy="6286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855200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500" y="366712"/>
            <a:ext cx="6821383" cy="62865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359957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25652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3" y="3305177"/>
            <a:ext cx="8784975" cy="1021557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79513" y="2180035"/>
            <a:ext cx="8784975" cy="112514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98257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122" y="366712"/>
            <a:ext cx="6821383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81121" y="1194198"/>
            <a:ext cx="435722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sz="half" idx="10"/>
          </p:nvPr>
        </p:nvSpPr>
        <p:spPr>
          <a:xfrm>
            <a:off x="4663618" y="1194198"/>
            <a:ext cx="430087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28447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79514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sz="half" idx="10"/>
          </p:nvPr>
        </p:nvSpPr>
        <p:spPr>
          <a:xfrm>
            <a:off x="3131840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2"/>
          <p:cNvSpPr>
            <a:spLocks noGrp="1"/>
          </p:cNvSpPr>
          <p:nvPr>
            <p:ph sz="half" idx="12"/>
          </p:nvPr>
        </p:nvSpPr>
        <p:spPr>
          <a:xfrm>
            <a:off x="6084168" y="1194197"/>
            <a:ext cx="288032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48500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638197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994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419872" y="1184707"/>
            <a:ext cx="5544616" cy="343058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512" y="1184707"/>
            <a:ext cx="3147109" cy="343058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179512" y="366712"/>
            <a:ext cx="6840000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457369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1185555"/>
            <a:ext cx="5486400" cy="23330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 dirty="0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609792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hyperlink" Target="https://www.informatik.tu-darmstadt.de/systems" TargetMode="Externa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3">
            <a:extLst>
              <a:ext uri="{FF2B5EF4-FFF2-40B4-BE49-F238E27FC236}">
                <a16:creationId xmlns:a16="http://schemas.microsoft.com/office/drawing/2014/main" id="{5DE6B28B-1924-6586-93DE-A8B7125F99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565150"/>
            <a:ext cx="8713787" cy="811213"/>
          </a:xfrm>
          <a:prstGeom prst="rect">
            <a:avLst/>
          </a:prstGeom>
          <a:noFill/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F8845DD2-FED3-B722-60E5-2D5584F497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385763"/>
            <a:ext cx="7131050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Study and Evaluation of Sharding in Distributed Databases</a:t>
            </a: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0E3DD2D1-FF1A-23DD-8EA5-98A5B99717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203325"/>
            <a:ext cx="8786812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7EE7FA02-8471-10FC-E7F8-70BDA1ADB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166688"/>
            <a:ext cx="8786812" cy="107950"/>
          </a:xfrm>
          <a:prstGeom prst="rect">
            <a:avLst/>
          </a:prstGeom>
          <a:solidFill>
            <a:srgbClr val="9C1C26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30" name="Line 14">
            <a:extLst>
              <a:ext uri="{FF2B5EF4-FFF2-40B4-BE49-F238E27FC236}">
                <a16:creationId xmlns:a16="http://schemas.microsoft.com/office/drawing/2014/main" id="{99272A64-D8FF-AD00-A390-533C1648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179388" y="1106488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AFC94279-DACA-3B83-0270-80797EAB29F2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4C9207C-9F80-4C03-91CA-81700BC7AF91}" type="datetime1">
              <a:rPr lang="de-DE" altLang="en-US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08.01.2023</a:t>
            </a:fld>
            <a:r>
              <a:rPr lang="de-DE" altLang="en-US" sz="1000" dirty="0">
                <a:cs typeface="Tahoma" panose="020B0604030504040204" pitchFamily="34" charset="0"/>
              </a:rPr>
              <a:t>  |  Institute </a:t>
            </a:r>
            <a:r>
              <a:rPr lang="en-US" sz="1000" dirty="0" err="1">
                <a:hlinkClick r:id="rId11"/>
              </a:rPr>
              <a:t>Systems@TUDa</a:t>
            </a:r>
            <a:r>
              <a:rPr lang="en-US" sz="1000" dirty="0">
                <a:hlinkClick r:id="rId11"/>
              </a:rPr>
              <a:t> Group</a:t>
            </a:r>
            <a:r>
              <a:rPr lang="de-DE" altLang="en-US" sz="1000" dirty="0">
                <a:cs typeface="Tahoma" panose="020B0604030504040204" pitchFamily="34" charset="0"/>
              </a:rPr>
              <a:t>  |  </a:t>
            </a:r>
            <a:r>
              <a:rPr lang="en-US" sz="1000" dirty="0"/>
              <a:t>Distributed and Networked Systems </a:t>
            </a:r>
            <a:r>
              <a:rPr lang="de-DE" altLang="en-US" sz="1000" dirty="0">
                <a:cs typeface="Tahoma" panose="020B0604030504040204" pitchFamily="34" charset="0"/>
              </a:rPr>
              <a:t>|  Prof. </a:t>
            </a:r>
            <a:r>
              <a:rPr lang="en-US" sz="1000" b="0" dirty="0" err="1"/>
              <a:t>Zsolt</a:t>
            </a:r>
            <a:r>
              <a:rPr lang="en-US" sz="1000" b="0" dirty="0"/>
              <a:t> István</a:t>
            </a:r>
            <a:r>
              <a:rPr lang="de-DE" altLang="en-US" sz="1000" dirty="0">
                <a:cs typeface="Tahoma" panose="020B0604030504040204" pitchFamily="34" charset="0"/>
              </a:rPr>
              <a:t>  |  Ritesh Shrestha</a:t>
            </a:r>
            <a:endParaRPr lang="en-US" sz="1000" b="0" dirty="0"/>
          </a:p>
          <a:p>
            <a:pPr eaLnBrk="1" hangingPunct="1">
              <a:defRPr/>
            </a:pPr>
            <a:endParaRPr lang="de-DE" altLang="en-US" sz="1000" dirty="0">
              <a:cs typeface="Tahoma" panose="020B0604030504040204" pitchFamily="34" charset="0"/>
            </a:endParaRPr>
          </a:p>
          <a:p>
            <a:pPr eaLnBrk="1" hangingPunct="1">
              <a:defRPr/>
            </a:pPr>
            <a:endParaRPr lang="de-DE" altLang="en-US" sz="1000" dirty="0">
              <a:cs typeface="Tahoma" panose="020B0604030504040204" pitchFamily="34" charset="0"/>
            </a:endParaRPr>
          </a:p>
        </p:txBody>
      </p:sp>
      <p:sp>
        <p:nvSpPr>
          <p:cNvPr id="2" name="Line 14">
            <a:extLst>
              <a:ext uri="{FF2B5EF4-FFF2-40B4-BE49-F238E27FC236}">
                <a16:creationId xmlns:a16="http://schemas.microsoft.com/office/drawing/2014/main" id="{1438C681-3711-3EDF-FA28-EE6091644027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96863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4" name="Line 15">
            <a:extLst>
              <a:ext uri="{FF2B5EF4-FFF2-40B4-BE49-F238E27FC236}">
                <a16:creationId xmlns:a16="http://schemas.microsoft.com/office/drawing/2014/main" id="{73DD820F-3D55-5B93-FBDD-8563B68BC986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pic>
        <p:nvPicPr>
          <p:cNvPr id="1035" name="Picture 9" descr="tud_logo">
            <a:extLst>
              <a:ext uri="{FF2B5EF4-FFF2-40B4-BE49-F238E27FC236}">
                <a16:creationId xmlns:a16="http://schemas.microsoft.com/office/drawing/2014/main" id="{90B65A66-6CE8-308A-F32F-3B4CFABDF9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n-lt"/>
          <a:ea typeface="+mj-ea"/>
          <a:cs typeface="Tahoma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9pPr>
    </p:titleStyle>
    <p:bodyStyle>
      <a:lvl1pPr marL="179388" indent="-17938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defRPr sz="2000">
          <a:solidFill>
            <a:schemeClr val="tx1"/>
          </a:solidFill>
          <a:latin typeface="+mn-lt"/>
          <a:ea typeface="+mn-ea"/>
          <a:cs typeface="Tahoma" pitchFamily="34" charset="0"/>
        </a:defRPr>
      </a:lvl1pPr>
      <a:lvl2pPr marL="179388" indent="-177800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Tahoma" pitchFamily="34" charset="0"/>
        </a:defRPr>
      </a:lvl2pPr>
      <a:lvl3pPr marL="538163" indent="-187325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Tahoma" pitchFamily="34" charset="0"/>
        </a:defRPr>
      </a:lvl3pPr>
      <a:lvl4pPr marL="717550" indent="-17303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4pPr>
      <a:lvl5pPr marL="908050" indent="-188913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5pPr>
      <a:lvl6pPr marL="13652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6pPr>
      <a:lvl7pPr marL="18224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7pPr>
      <a:lvl8pPr marL="22796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8pPr>
      <a:lvl9pPr marL="27368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Untertitel 1">
            <a:extLst>
              <a:ext uri="{FF2B5EF4-FFF2-40B4-BE49-F238E27FC236}">
                <a16:creationId xmlns:a16="http://schemas.microsoft.com/office/drawing/2014/main" id="{C1D603C1-3A6B-B3AB-B01D-7680A98B622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50825" y="1087438"/>
            <a:ext cx="6842125" cy="708025"/>
          </a:xfrm>
        </p:spPr>
        <p:txBody>
          <a:bodyPr/>
          <a:lstStyle/>
          <a:p>
            <a:pPr eaLnBrk="1" hangingPunct="1"/>
            <a:endParaRPr lang="de-DE" altLang="de-DE" dirty="0"/>
          </a:p>
        </p:txBody>
      </p:sp>
      <p:sp>
        <p:nvSpPr>
          <p:cNvPr id="5123" name="Titel 2">
            <a:extLst>
              <a:ext uri="{FF2B5EF4-FFF2-40B4-BE49-F238E27FC236}">
                <a16:creationId xmlns:a16="http://schemas.microsoft.com/office/drawing/2014/main" id="{41FBCA64-DA6D-F6A7-9F5E-4775E3FF8D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71463" y="366713"/>
            <a:ext cx="6821487" cy="628650"/>
          </a:xfrm>
        </p:spPr>
        <p:txBody>
          <a:bodyPr/>
          <a:lstStyle/>
          <a:p>
            <a:pPr eaLnBrk="1" hangingPunct="1"/>
            <a:r>
              <a:rPr lang="de-DE" altLang="de-DE" dirty="0"/>
              <a:t>Study and Evaluation of Sharding in Distributed Databases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A6D9933-9A33-43A3-F2A3-FF9243E27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2BD36E1-BE11-1392-F64E-E7AF4F70E46F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67ECDC-901D-7332-D77F-24EE1AC3D62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39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9113DBB-8DE1-546B-4AF0-1047D269E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Design (Abstract Overview)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757F50-8B9E-9A7C-F148-09FA32AEEBD0}"/>
              </a:ext>
            </a:extLst>
          </p:cNvPr>
          <p:cNvSpPr/>
          <p:nvPr/>
        </p:nvSpPr>
        <p:spPr>
          <a:xfrm>
            <a:off x="2310264" y="2515687"/>
            <a:ext cx="4364990" cy="848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Middleware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FC6408-FB21-B420-DF0A-01DF62EB6C38}"/>
              </a:ext>
            </a:extLst>
          </p:cNvPr>
          <p:cNvSpPr/>
          <p:nvPr/>
        </p:nvSpPr>
        <p:spPr>
          <a:xfrm>
            <a:off x="2475320" y="2643758"/>
            <a:ext cx="826770" cy="3733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Sites Management</a:t>
            </a:r>
            <a:endParaRPr lang="en-US" sz="1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C6702F08-2141-C13E-DE30-6607953D3F9F}"/>
              </a:ext>
            </a:extLst>
          </p:cNvPr>
          <p:cNvSpPr/>
          <p:nvPr/>
        </p:nvSpPr>
        <p:spPr>
          <a:xfrm>
            <a:off x="3526924" y="3867894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E21FF796-4B47-0C3E-8E1E-13984A92C4C1}"/>
              </a:ext>
            </a:extLst>
          </p:cNvPr>
          <p:cNvSpPr/>
          <p:nvPr/>
        </p:nvSpPr>
        <p:spPr>
          <a:xfrm>
            <a:off x="4743584" y="3867893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Cylinder 12">
            <a:extLst>
              <a:ext uri="{FF2B5EF4-FFF2-40B4-BE49-F238E27FC236}">
                <a16:creationId xmlns:a16="http://schemas.microsoft.com/office/drawing/2014/main" id="{0AD1A175-6C1E-1FE7-6435-1921E2508F24}"/>
              </a:ext>
            </a:extLst>
          </p:cNvPr>
          <p:cNvSpPr/>
          <p:nvPr/>
        </p:nvSpPr>
        <p:spPr>
          <a:xfrm>
            <a:off x="5960244" y="3867894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D</a:t>
            </a:r>
            <a:r>
              <a:rPr lang="en-US" baseline="-25000" dirty="0" err="1">
                <a:solidFill>
                  <a:schemeClr val="tx1"/>
                </a:solidFill>
              </a:rPr>
              <a:t>n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79B8FC02-653A-19E2-496B-EBA10F08C087}"/>
              </a:ext>
            </a:extLst>
          </p:cNvPr>
          <p:cNvSpPr/>
          <p:nvPr/>
        </p:nvSpPr>
        <p:spPr>
          <a:xfrm>
            <a:off x="2310264" y="3867894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40D86C-7F58-FE1E-73A0-1A640DCD734A}"/>
              </a:ext>
            </a:extLst>
          </p:cNvPr>
          <p:cNvSpPr/>
          <p:nvPr/>
        </p:nvSpPr>
        <p:spPr>
          <a:xfrm>
            <a:off x="4613002" y="2643758"/>
            <a:ext cx="826770" cy="3733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 dirty="0">
                <a:ea typeface="Calibri" panose="020F0502020204030204" pitchFamily="34" charset="0"/>
                <a:cs typeface="Times New Roman" panose="02020603050405020304" pitchFamily="18" charset="0"/>
              </a:rPr>
              <a:t>Query Routing</a:t>
            </a:r>
            <a:endParaRPr lang="en-US" sz="1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2DC870-80FF-D282-0707-A60B64222B56}"/>
              </a:ext>
            </a:extLst>
          </p:cNvPr>
          <p:cNvSpPr/>
          <p:nvPr/>
        </p:nvSpPr>
        <p:spPr>
          <a:xfrm>
            <a:off x="5679943" y="2643758"/>
            <a:ext cx="826770" cy="3733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Result Compilation</a:t>
            </a:r>
            <a:endParaRPr lang="en-US" sz="1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CC90ED-1545-8742-9E1B-BA85D43FE484}"/>
              </a:ext>
            </a:extLst>
          </p:cNvPr>
          <p:cNvSpPr/>
          <p:nvPr/>
        </p:nvSpPr>
        <p:spPr>
          <a:xfrm>
            <a:off x="3544161" y="2643758"/>
            <a:ext cx="826770" cy="3733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Sharding Algorithm</a:t>
            </a:r>
            <a:endParaRPr lang="en-US" sz="1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F381070-7C91-DAF6-3D89-A4C2113925BD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667769" y="3363838"/>
            <a:ext cx="0" cy="50405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DA22712-21DA-7D65-2024-B628402F2FA3}"/>
              </a:ext>
            </a:extLst>
          </p:cNvPr>
          <p:cNvCxnSpPr>
            <a:stCxn id="11" idx="1"/>
          </p:cNvCxnSpPr>
          <p:nvPr/>
        </p:nvCxnSpPr>
        <p:spPr>
          <a:xfrm flipV="1">
            <a:off x="3884429" y="3363838"/>
            <a:ext cx="0" cy="50405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AB1898-FEF4-0379-B23B-F61526CCDEC2}"/>
              </a:ext>
            </a:extLst>
          </p:cNvPr>
          <p:cNvCxnSpPr>
            <a:stCxn id="12" idx="1"/>
          </p:cNvCxnSpPr>
          <p:nvPr/>
        </p:nvCxnSpPr>
        <p:spPr>
          <a:xfrm flipV="1">
            <a:off x="5101089" y="3363838"/>
            <a:ext cx="0" cy="504055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BB162AE-F8D4-1A75-CEA5-E2495D591C4B}"/>
              </a:ext>
            </a:extLst>
          </p:cNvPr>
          <p:cNvCxnSpPr>
            <a:stCxn id="13" idx="1"/>
          </p:cNvCxnSpPr>
          <p:nvPr/>
        </p:nvCxnSpPr>
        <p:spPr>
          <a:xfrm flipV="1">
            <a:off x="6317749" y="3363838"/>
            <a:ext cx="0" cy="50405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CAF8CD6-AF7B-32F5-B66F-CC9B1C90A8F7}"/>
              </a:ext>
            </a:extLst>
          </p:cNvPr>
          <p:cNvSpPr txBox="1"/>
          <p:nvPr/>
        </p:nvSpPr>
        <p:spPr>
          <a:xfrm>
            <a:off x="5512651" y="421381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3F6915-D8A3-5176-E4FD-88EEE5F33B5E}"/>
              </a:ext>
            </a:extLst>
          </p:cNvPr>
          <p:cNvSpPr txBox="1"/>
          <p:nvPr/>
        </p:nvSpPr>
        <p:spPr>
          <a:xfrm>
            <a:off x="3479143" y="1577653"/>
            <a:ext cx="2198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Clients/Applications</a:t>
            </a:r>
          </a:p>
        </p:txBody>
      </p:sp>
      <p:pic>
        <p:nvPicPr>
          <p:cNvPr id="36" name="Graphic 35" descr="Users outline">
            <a:extLst>
              <a:ext uri="{FF2B5EF4-FFF2-40B4-BE49-F238E27FC236}">
                <a16:creationId xmlns:a16="http://schemas.microsoft.com/office/drawing/2014/main" id="{D901801E-FE53-A69B-A6DE-6AABF486BF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7181" y="1304368"/>
            <a:ext cx="914400" cy="914400"/>
          </a:xfrm>
          <a:prstGeom prst="rect">
            <a:avLst/>
          </a:prstGeom>
        </p:spPr>
      </p:pic>
      <p:pic>
        <p:nvPicPr>
          <p:cNvPr id="37" name="Graphic 36" descr="Users outline">
            <a:extLst>
              <a:ext uri="{FF2B5EF4-FFF2-40B4-BE49-F238E27FC236}">
                <a16:creationId xmlns:a16="http://schemas.microsoft.com/office/drawing/2014/main" id="{EABD1E97-A525-58DA-5FF7-2BEFECC09F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46628" y="1304368"/>
            <a:ext cx="914400" cy="9144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44C66B7-79D1-9030-493E-C88084494178}"/>
              </a:ext>
            </a:extLst>
          </p:cNvPr>
          <p:cNvCxnSpPr>
            <a:stCxn id="37" idx="2"/>
          </p:cNvCxnSpPr>
          <p:nvPr/>
        </p:nvCxnSpPr>
        <p:spPr>
          <a:xfrm>
            <a:off x="3003828" y="2218768"/>
            <a:ext cx="0" cy="296919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71F1878-1463-9DE6-1425-241A60E3D8F4}"/>
              </a:ext>
            </a:extLst>
          </p:cNvPr>
          <p:cNvCxnSpPr>
            <a:stCxn id="6" idx="0"/>
          </p:cNvCxnSpPr>
          <p:nvPr/>
        </p:nvCxnSpPr>
        <p:spPr>
          <a:xfrm flipV="1">
            <a:off x="4492759" y="1995686"/>
            <a:ext cx="0" cy="52000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69FBF5B-169C-6FE2-FE3A-61C23E7A319A}"/>
              </a:ext>
            </a:extLst>
          </p:cNvPr>
          <p:cNvCxnSpPr>
            <a:stCxn id="36" idx="2"/>
          </p:cNvCxnSpPr>
          <p:nvPr/>
        </p:nvCxnSpPr>
        <p:spPr>
          <a:xfrm>
            <a:off x="6134381" y="2218768"/>
            <a:ext cx="0" cy="296919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A213F5C-55A5-85AA-38FF-C667CC5B9C7E}"/>
              </a:ext>
            </a:extLst>
          </p:cNvPr>
          <p:cNvSpPr txBox="1"/>
          <p:nvPr/>
        </p:nvSpPr>
        <p:spPr>
          <a:xfrm>
            <a:off x="5108993" y="217927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46AF63-6627-7E64-0E05-14B4E608EB39}"/>
              </a:ext>
            </a:extLst>
          </p:cNvPr>
          <p:cNvSpPr txBox="1"/>
          <p:nvPr/>
        </p:nvSpPr>
        <p:spPr>
          <a:xfrm>
            <a:off x="3499068" y="218256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00BEC4-D36E-D9AA-4634-E4794B8C6A33}"/>
              </a:ext>
            </a:extLst>
          </p:cNvPr>
          <p:cNvSpPr txBox="1"/>
          <p:nvPr/>
        </p:nvSpPr>
        <p:spPr>
          <a:xfrm>
            <a:off x="6781917" y="4158326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Databases</a:t>
            </a:r>
          </a:p>
        </p:txBody>
      </p:sp>
    </p:spTree>
    <p:extLst>
      <p:ext uri="{BB962C8B-B14F-4D97-AF65-F5344CB8AC3E}">
        <p14:creationId xmlns:p14="http://schemas.microsoft.com/office/powerpoint/2010/main" val="404834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45317-5D8F-AA46-12DF-EDE137A08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84AFB37-D08D-96C5-99EE-2772BAD741EF}"/>
              </a:ext>
            </a:extLst>
          </p:cNvPr>
          <p:cNvSpPr/>
          <p:nvPr/>
        </p:nvSpPr>
        <p:spPr>
          <a:xfrm>
            <a:off x="251520" y="1203598"/>
            <a:ext cx="8640960" cy="345638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348885"/>
      </p:ext>
    </p:extLst>
  </p:cSld>
  <p:clrMapOvr>
    <a:masterClrMapping/>
  </p:clrMapOvr>
</p:sld>
</file>

<file path=ppt/theme/theme1.xml><?xml version="1.0" encoding="utf-8"?>
<a:theme xmlns:a="http://schemas.openxmlformats.org/drawingml/2006/main" name="Thesis_Shrestha_Ritesh">
  <a:themeElements>
    <a:clrScheme name="v1_TUD_Präsentation_ro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v1_TUD_Präsentation_ro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1_TUD_Präsentation_ro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Präsentationsvorlage_BWL9</Template>
  <TotalTime>175</TotalTime>
  <Words>38</Words>
  <Application>Microsoft Office PowerPoint</Application>
  <PresentationFormat>On-screen Show (16:9)</PresentationFormat>
  <Paragraphs>19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Bitstream Charter</vt:lpstr>
      <vt:lpstr>Stafford</vt:lpstr>
      <vt:lpstr>Wingdings</vt:lpstr>
      <vt:lpstr>Thesis_Shrestha_Ritesh</vt:lpstr>
      <vt:lpstr>Study and Evaluation of Sharding in Distributed Databases</vt:lpstr>
      <vt:lpstr>PowerPoint Presentation</vt:lpstr>
      <vt:lpstr>System Design (Abstract Overview)</vt:lpstr>
      <vt:lpstr>Middleware Architecture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Moritz Lohse</dc:creator>
  <cp:lastModifiedBy>Ritesh Shrestha</cp:lastModifiedBy>
  <cp:revision>64</cp:revision>
  <dcterms:created xsi:type="dcterms:W3CDTF">2009-12-23T09:42:49Z</dcterms:created>
  <dcterms:modified xsi:type="dcterms:W3CDTF">2023-01-08T15:44:17Z</dcterms:modified>
</cp:coreProperties>
</file>