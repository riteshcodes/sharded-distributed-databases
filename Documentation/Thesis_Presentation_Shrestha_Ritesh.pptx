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handoutMasterIdLst>
    <p:handoutMasterId r:id="rId28"/>
  </p:handoutMasterIdLst>
  <p:sldIdLst>
    <p:sldId id="256" r:id="rId2"/>
    <p:sldId id="286" r:id="rId3"/>
    <p:sldId id="259" r:id="rId4"/>
    <p:sldId id="266" r:id="rId5"/>
    <p:sldId id="284" r:id="rId6"/>
    <p:sldId id="285" r:id="rId7"/>
    <p:sldId id="267" r:id="rId8"/>
    <p:sldId id="278" r:id="rId9"/>
    <p:sldId id="279" r:id="rId10"/>
    <p:sldId id="280" r:id="rId11"/>
    <p:sldId id="281" r:id="rId12"/>
    <p:sldId id="282" r:id="rId13"/>
    <p:sldId id="270" r:id="rId14"/>
    <p:sldId id="268" r:id="rId15"/>
    <p:sldId id="287" r:id="rId16"/>
    <p:sldId id="295" r:id="rId17"/>
    <p:sldId id="294" r:id="rId18"/>
    <p:sldId id="296" r:id="rId19"/>
    <p:sldId id="297" r:id="rId20"/>
    <p:sldId id="298" r:id="rId21"/>
    <p:sldId id="273" r:id="rId22"/>
    <p:sldId id="269" r:id="rId23"/>
    <p:sldId id="274" r:id="rId24"/>
    <p:sldId id="275" r:id="rId25"/>
    <p:sldId id="271" r:id="rId26"/>
  </p:sldIdLst>
  <p:sldSz cx="9144000" cy="5143500" type="screen16x9"/>
  <p:notesSz cx="6858000" cy="9144000"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00"/>
    <a:srgbClr val="F5A300"/>
    <a:srgbClr val="FDCA00"/>
    <a:srgbClr val="9C1C26"/>
    <a:srgbClr val="312C8C"/>
    <a:srgbClr val="000000"/>
    <a:srgbClr val="B5B5B5"/>
    <a:srgbClr val="E950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1135" autoAdjust="0"/>
  </p:normalViewPr>
  <p:slideViewPr>
    <p:cSldViewPr snapToObjects="1">
      <p:cViewPr>
        <p:scale>
          <a:sx n="202" d="100"/>
          <a:sy n="202" d="100"/>
        </p:scale>
        <p:origin x="594" y="3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>
            <a:extLst>
              <a:ext uri="{FF2B5EF4-FFF2-40B4-BE49-F238E27FC236}">
                <a16:creationId xmlns:a16="http://schemas.microsoft.com/office/drawing/2014/main" id="{CE97DB1B-40A1-5247-CCCA-7E871F34FB3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90500" y="387350"/>
            <a:ext cx="5403850" cy="390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8000" tIns="0" rIns="0" bIns="0" numCol="1" anchor="ctr" anchorCtr="0" compatLnSpc="1">
            <a:prstTxWarp prst="textNoShape">
              <a:avLst/>
            </a:prstTxWarp>
          </a:bodyPr>
          <a:lstStyle>
            <a:lvl1pPr eaLnBrk="1" hangingPunct="1">
              <a:lnSpc>
                <a:spcPts val="1300"/>
              </a:lnSpc>
              <a:defRPr sz="1000" b="1">
                <a:latin typeface="Stafford" pitchFamily="2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0179" name="Rectangle 3">
            <a:extLst>
              <a:ext uri="{FF2B5EF4-FFF2-40B4-BE49-F238E27FC236}">
                <a16:creationId xmlns:a16="http://schemas.microsoft.com/office/drawing/2014/main" id="{BD179BEA-EB87-7001-9D8D-C111B010FD2A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190500" y="8567738"/>
            <a:ext cx="133032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 b="1">
                <a:latin typeface="Stafford" pitchFamily="2" charset="0"/>
                <a:cs typeface="+mn-cs"/>
              </a:defRPr>
            </a:lvl1pPr>
          </a:lstStyle>
          <a:p>
            <a:pPr>
              <a:defRPr/>
            </a:pPr>
            <a:fld id="{08B7A686-396D-4677-A3CA-F76FDA9BC1D5}" type="datetime4">
              <a:rPr lang="de-DE"/>
              <a:pPr>
                <a:defRPr/>
              </a:pPr>
              <a:t>29. Januar 2023</a:t>
            </a:fld>
            <a:endParaRPr lang="de-DE"/>
          </a:p>
        </p:txBody>
      </p:sp>
      <p:sp>
        <p:nvSpPr>
          <p:cNvPr id="50180" name="Rectangle 4">
            <a:extLst>
              <a:ext uri="{FF2B5EF4-FFF2-40B4-BE49-F238E27FC236}">
                <a16:creationId xmlns:a16="http://schemas.microsoft.com/office/drawing/2014/main" id="{9499C995-4E3F-3036-497D-47C1C4FF02E0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520825" y="8567738"/>
            <a:ext cx="4464050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 b="1">
                <a:latin typeface="Stafford" pitchFamily="2" charset="0"/>
                <a:cs typeface="+mn-cs"/>
              </a:defRPr>
            </a:lvl1pPr>
          </a:lstStyle>
          <a:p>
            <a:pPr>
              <a:defRPr/>
            </a:pPr>
            <a:r>
              <a:rPr lang="de-DE"/>
              <a:t>|  </a:t>
            </a:r>
          </a:p>
        </p:txBody>
      </p:sp>
      <p:sp>
        <p:nvSpPr>
          <p:cNvPr id="50181" name="Rectangle 5">
            <a:extLst>
              <a:ext uri="{FF2B5EF4-FFF2-40B4-BE49-F238E27FC236}">
                <a16:creationId xmlns:a16="http://schemas.microsoft.com/office/drawing/2014/main" id="{FBE640B1-873A-94B8-8A31-5536D85B3A0B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999163" y="8567738"/>
            <a:ext cx="66992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000" b="1">
                <a:latin typeface="Stafford" pitchFamily="2" charset="0"/>
              </a:defRPr>
            </a:lvl1pPr>
          </a:lstStyle>
          <a:p>
            <a:pPr>
              <a:defRPr/>
            </a:pPr>
            <a:r>
              <a:rPr lang="de-DE" altLang="en-US"/>
              <a:t>|  </a:t>
            </a:r>
            <a:fld id="{0D3CCF04-7849-4E38-BE10-50BAF3FD9F63}" type="slidenum">
              <a:rPr lang="de-DE" altLang="en-US" smtClean="0"/>
              <a:pPr>
                <a:defRPr/>
              </a:pPr>
              <a:t>‹#›</a:t>
            </a:fld>
            <a:endParaRPr lang="de-DE" altLang="en-US"/>
          </a:p>
        </p:txBody>
      </p:sp>
      <p:pic>
        <p:nvPicPr>
          <p:cNvPr id="4102" name="Picture 6" descr="tud_logo">
            <a:extLst>
              <a:ext uri="{FF2B5EF4-FFF2-40B4-BE49-F238E27FC236}">
                <a16:creationId xmlns:a16="http://schemas.microsoft.com/office/drawing/2014/main" id="{DA3C379B-039B-9736-611B-8E23233A52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0400" y="360363"/>
            <a:ext cx="928688" cy="417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7" name="Rectangle 7">
            <a:extLst>
              <a:ext uri="{FF2B5EF4-FFF2-40B4-BE49-F238E27FC236}">
                <a16:creationId xmlns:a16="http://schemas.microsoft.com/office/drawing/2014/main" id="{C832D807-53E1-9FBA-CEF7-3E2A5C2503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" y="179388"/>
            <a:ext cx="6478588" cy="144462"/>
          </a:xfrm>
          <a:prstGeom prst="rect">
            <a:avLst/>
          </a:prstGeom>
          <a:solidFill>
            <a:srgbClr val="B5B5B5"/>
          </a:solidFill>
          <a:ln>
            <a:noFill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endParaRPr lang="de-DE" altLang="de-DE"/>
          </a:p>
        </p:txBody>
      </p:sp>
      <p:sp>
        <p:nvSpPr>
          <p:cNvPr id="4104" name="Line 8">
            <a:extLst>
              <a:ext uri="{FF2B5EF4-FFF2-40B4-BE49-F238E27FC236}">
                <a16:creationId xmlns:a16="http://schemas.microsoft.com/office/drawing/2014/main" id="{54002981-9706-DF11-A5BD-EFA0806EAE3D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" y="360363"/>
            <a:ext cx="6478588" cy="0"/>
          </a:xfrm>
          <a:prstGeom prst="line">
            <a:avLst/>
          </a:prstGeom>
          <a:noFill/>
          <a:ln w="1524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5" name="Line 9">
            <a:extLst>
              <a:ext uri="{FF2B5EF4-FFF2-40B4-BE49-F238E27FC236}">
                <a16:creationId xmlns:a16="http://schemas.microsoft.com/office/drawing/2014/main" id="{5ADB8796-B620-C43D-AAC4-BB3533624CE2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" y="8496300"/>
            <a:ext cx="6478588" cy="0"/>
          </a:xfrm>
          <a:prstGeom prst="line">
            <a:avLst/>
          </a:prstGeom>
          <a:noFill/>
          <a:ln w="762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6" name="Line 10">
            <a:extLst>
              <a:ext uri="{FF2B5EF4-FFF2-40B4-BE49-F238E27FC236}">
                <a16:creationId xmlns:a16="http://schemas.microsoft.com/office/drawing/2014/main" id="{94E8A0B6-C737-1095-8A4B-87910BDB9F6A}"/>
              </a:ext>
            </a:extLst>
          </p:cNvPr>
          <p:cNvSpPr>
            <a:spLocks noChangeShapeType="1"/>
          </p:cNvSpPr>
          <p:nvPr/>
        </p:nvSpPr>
        <p:spPr bwMode="auto">
          <a:xfrm>
            <a:off x="188913" y="777875"/>
            <a:ext cx="6478587" cy="0"/>
          </a:xfrm>
          <a:prstGeom prst="line">
            <a:avLst/>
          </a:prstGeom>
          <a:noFill/>
          <a:ln w="762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13" descr="tud_logo">
            <a:extLst>
              <a:ext uri="{FF2B5EF4-FFF2-40B4-BE49-F238E27FC236}">
                <a16:creationId xmlns:a16="http://schemas.microsoft.com/office/drawing/2014/main" id="{25AAB025-6227-E2C2-3E32-18BDEE66E3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2463" y="360363"/>
            <a:ext cx="935037" cy="420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5" name="Rectangle 3">
            <a:extLst>
              <a:ext uri="{FF2B5EF4-FFF2-40B4-BE49-F238E27FC236}">
                <a16:creationId xmlns:a16="http://schemas.microsoft.com/office/drawing/2014/main" id="{D3744C56-5FB0-A5BB-E765-32920295BD03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188913" y="8685213"/>
            <a:ext cx="161925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lnSpc>
                <a:spcPts val="1300"/>
              </a:lnSpc>
              <a:defRPr sz="1000">
                <a:latin typeface="Stafford" pitchFamily="2" charset="0"/>
                <a:cs typeface="+mn-cs"/>
              </a:defRPr>
            </a:lvl1pPr>
          </a:lstStyle>
          <a:p>
            <a:pPr>
              <a:defRPr/>
            </a:pPr>
            <a:fld id="{3B2A7E3D-D26F-4243-85E6-11209E462D36}" type="datetime4">
              <a:rPr lang="de-DE"/>
              <a:pPr>
                <a:defRPr/>
              </a:pPr>
              <a:t>29. Januar 2023</a:t>
            </a:fld>
            <a:endParaRPr lang="de-DE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E8353360-843D-2E7F-0D7E-79FFCCD6003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688975" y="923925"/>
            <a:ext cx="5461000" cy="30718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AA1D431F-FE81-D528-F167-00056E6C096A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90500" y="4284663"/>
            <a:ext cx="6477000" cy="428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Textmasterformate durch Klicken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6108ADF4-BD61-2127-A9B9-619C423F026D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808163" y="8685213"/>
            <a:ext cx="410527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lnSpc>
                <a:spcPts val="1300"/>
              </a:lnSpc>
              <a:defRPr sz="1000">
                <a:latin typeface="Stafford" pitchFamily="2" charset="0"/>
                <a:cs typeface="+mn-cs"/>
              </a:defRPr>
            </a:lvl1pPr>
          </a:lstStyle>
          <a:p>
            <a:pPr>
              <a:defRPr/>
            </a:pPr>
            <a:r>
              <a:rPr lang="de-DE"/>
              <a:t>|  </a:t>
            </a:r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B9A20EA9-4E2F-91AA-F463-79015562BA2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913438" y="8685213"/>
            <a:ext cx="94297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lnSpc>
                <a:spcPts val="1300"/>
              </a:lnSpc>
              <a:defRPr sz="1000">
                <a:latin typeface="Stafford" pitchFamily="2" charset="0"/>
              </a:defRPr>
            </a:lvl1pPr>
          </a:lstStyle>
          <a:p>
            <a:pPr>
              <a:defRPr/>
            </a:pPr>
            <a:r>
              <a:rPr lang="de-DE" altLang="en-US"/>
              <a:t>|  </a:t>
            </a:r>
            <a:fld id="{89A65719-4C9F-411D-AF3C-55B6FB940FFC}" type="slidenum">
              <a:rPr lang="de-DE" altLang="en-US" smtClean="0"/>
              <a:pPr>
                <a:defRPr/>
              </a:pPr>
              <a:t>‹#›</a:t>
            </a:fld>
            <a:endParaRPr lang="de-DE" altLang="en-US"/>
          </a:p>
        </p:txBody>
      </p:sp>
      <p:sp>
        <p:nvSpPr>
          <p:cNvPr id="4104" name="Rectangle 8">
            <a:extLst>
              <a:ext uri="{FF2B5EF4-FFF2-40B4-BE49-F238E27FC236}">
                <a16:creationId xmlns:a16="http://schemas.microsoft.com/office/drawing/2014/main" id="{8B1A39D5-5988-6276-E287-AF5BB35985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" y="387350"/>
            <a:ext cx="5403850" cy="393700"/>
          </a:xfrm>
          <a:prstGeom prst="rect">
            <a:avLst/>
          </a:prstGeom>
          <a:noFill/>
          <a:ln>
            <a:noFill/>
          </a:ln>
        </p:spPr>
        <p:txBody>
          <a:bodyPr lIns="108000" tIns="0" rIns="0" bIns="0" anchor="ctr"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lnSpc>
                <a:spcPts val="1300"/>
              </a:lnSpc>
              <a:defRPr/>
            </a:pPr>
            <a:endParaRPr lang="de-DE" altLang="de-DE" sz="1000" b="1">
              <a:latin typeface="Stafford" pitchFamily="2" charset="0"/>
            </a:endParaRPr>
          </a:p>
        </p:txBody>
      </p:sp>
      <p:sp>
        <p:nvSpPr>
          <p:cNvPr id="4105" name="Rectangle 9">
            <a:extLst>
              <a:ext uri="{FF2B5EF4-FFF2-40B4-BE49-F238E27FC236}">
                <a16:creationId xmlns:a16="http://schemas.microsoft.com/office/drawing/2014/main" id="{B2359B56-B575-A36A-62A3-BB1C32EF90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" y="179388"/>
            <a:ext cx="6478588" cy="144462"/>
          </a:xfrm>
          <a:prstGeom prst="rect">
            <a:avLst/>
          </a:prstGeom>
          <a:solidFill>
            <a:srgbClr val="B5B5B5"/>
          </a:solidFill>
          <a:ln>
            <a:noFill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endParaRPr lang="de-DE" altLang="de-DE"/>
          </a:p>
        </p:txBody>
      </p:sp>
      <p:sp>
        <p:nvSpPr>
          <p:cNvPr id="3082" name="Line 10">
            <a:extLst>
              <a:ext uri="{FF2B5EF4-FFF2-40B4-BE49-F238E27FC236}">
                <a16:creationId xmlns:a16="http://schemas.microsoft.com/office/drawing/2014/main" id="{DF17AFAD-1A0A-3FB3-9578-2ECF3A7C5F50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" y="360363"/>
            <a:ext cx="6478588" cy="0"/>
          </a:xfrm>
          <a:prstGeom prst="line">
            <a:avLst/>
          </a:prstGeom>
          <a:noFill/>
          <a:ln w="1524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83" name="Line 11">
            <a:extLst>
              <a:ext uri="{FF2B5EF4-FFF2-40B4-BE49-F238E27FC236}">
                <a16:creationId xmlns:a16="http://schemas.microsoft.com/office/drawing/2014/main" id="{28C0EB63-97F3-968D-3300-CD97D8813082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" y="781050"/>
            <a:ext cx="6478588" cy="0"/>
          </a:xfrm>
          <a:prstGeom prst="line">
            <a:avLst/>
          </a:prstGeom>
          <a:noFill/>
          <a:ln w="762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84" name="Line 12">
            <a:extLst>
              <a:ext uri="{FF2B5EF4-FFF2-40B4-BE49-F238E27FC236}">
                <a16:creationId xmlns:a16="http://schemas.microsoft.com/office/drawing/2014/main" id="{2E6B16EE-5A2C-BF4E-A42C-F0F0C7A6C141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" y="8685213"/>
            <a:ext cx="6478588" cy="0"/>
          </a:xfrm>
          <a:prstGeom prst="line">
            <a:avLst/>
          </a:prstGeom>
          <a:noFill/>
          <a:ln w="762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85" name="Line 14">
            <a:extLst>
              <a:ext uri="{FF2B5EF4-FFF2-40B4-BE49-F238E27FC236}">
                <a16:creationId xmlns:a16="http://schemas.microsoft.com/office/drawing/2014/main" id="{E9FC1DC2-CFB1-42BA-DC13-CC6714C9C4B4}"/>
              </a:ext>
            </a:extLst>
          </p:cNvPr>
          <p:cNvSpPr>
            <a:spLocks noChangeShapeType="1"/>
          </p:cNvSpPr>
          <p:nvPr/>
        </p:nvSpPr>
        <p:spPr bwMode="auto">
          <a:xfrm>
            <a:off x="188913" y="4103688"/>
            <a:ext cx="6478587" cy="0"/>
          </a:xfrm>
          <a:prstGeom prst="line">
            <a:avLst/>
          </a:prstGeom>
          <a:noFill/>
          <a:ln w="762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/>
  <p:notesStyle>
    <a:lvl1pPr algn="l" rtl="0" eaLnBrk="0" fontAlgn="base" hangingPunct="0">
      <a:spcBef>
        <a:spcPct val="10000"/>
      </a:spcBef>
      <a:spcAft>
        <a:spcPct val="0"/>
      </a:spcAft>
      <a:defRPr sz="1200" kern="1200">
        <a:solidFill>
          <a:schemeClr val="tx1"/>
        </a:solidFill>
        <a:latin typeface="Bitstream Charter" pitchFamily="2" charset="0"/>
        <a:ea typeface="+mn-ea"/>
        <a:cs typeface="+mn-cs"/>
      </a:defRPr>
    </a:lvl1pPr>
    <a:lvl2pPr marL="457200" algn="l" rtl="0" eaLnBrk="0" fontAlgn="base" hangingPunct="0">
      <a:spcBef>
        <a:spcPct val="10000"/>
      </a:spcBef>
      <a:spcAft>
        <a:spcPct val="0"/>
      </a:spcAft>
      <a:defRPr sz="1200" kern="1200">
        <a:solidFill>
          <a:schemeClr val="tx1"/>
        </a:solidFill>
        <a:latin typeface="Bitstream Charter" pitchFamily="2" charset="0"/>
        <a:ea typeface="+mn-ea"/>
        <a:cs typeface="+mn-cs"/>
      </a:defRPr>
    </a:lvl2pPr>
    <a:lvl3pPr marL="914400" algn="l" rtl="0" eaLnBrk="0" fontAlgn="base" hangingPunct="0">
      <a:spcBef>
        <a:spcPct val="10000"/>
      </a:spcBef>
      <a:spcAft>
        <a:spcPct val="0"/>
      </a:spcAft>
      <a:defRPr sz="1200" kern="1200">
        <a:solidFill>
          <a:schemeClr val="tx1"/>
        </a:solidFill>
        <a:latin typeface="Bitstream Charter" pitchFamily="2" charset="0"/>
        <a:ea typeface="+mn-ea"/>
        <a:cs typeface="+mn-cs"/>
      </a:defRPr>
    </a:lvl3pPr>
    <a:lvl4pPr marL="1371600" algn="l" rtl="0" eaLnBrk="0" fontAlgn="base" hangingPunct="0">
      <a:spcBef>
        <a:spcPct val="10000"/>
      </a:spcBef>
      <a:spcAft>
        <a:spcPct val="0"/>
      </a:spcAft>
      <a:defRPr sz="1200" kern="1200">
        <a:solidFill>
          <a:schemeClr val="tx1"/>
        </a:solidFill>
        <a:latin typeface="Bitstream Charter" pitchFamily="2" charset="0"/>
        <a:ea typeface="+mn-ea"/>
        <a:cs typeface="+mn-cs"/>
      </a:defRPr>
    </a:lvl4pPr>
    <a:lvl5pPr marL="1828800" algn="l" rtl="0" eaLnBrk="0" fontAlgn="base" hangingPunct="0">
      <a:spcBef>
        <a:spcPct val="10000"/>
      </a:spcBef>
      <a:spcAft>
        <a:spcPct val="0"/>
      </a:spcAft>
      <a:defRPr sz="1200" kern="1200">
        <a:solidFill>
          <a:schemeClr val="tx1"/>
        </a:solidFill>
        <a:latin typeface="Bitstream Charter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3B2A7E3D-D26F-4243-85E6-11209E462D36}" type="datetime4">
              <a:rPr lang="de-DE" smtClean="0"/>
              <a:pPr>
                <a:defRPr/>
              </a:pPr>
              <a:t>29. Januar 2023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|  </a:t>
            </a:r>
            <a:fld id="{89A65719-4C9F-411D-AF3C-55B6FB940FFC}" type="slidenum">
              <a:rPr lang="de-DE" altLang="en-US" smtClean="0"/>
              <a:pPr>
                <a:defRPr/>
              </a:pPr>
              <a:t>5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510877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3B2A7E3D-D26F-4243-85E6-11209E462D36}" type="datetime4">
              <a:rPr lang="de-DE" smtClean="0"/>
              <a:pPr>
                <a:defRPr/>
              </a:pPr>
              <a:t>29. Januar 2023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|  </a:t>
            </a:r>
            <a:fld id="{89A65719-4C9F-411D-AF3C-55B6FB940FFC}" type="slidenum">
              <a:rPr lang="de-DE" altLang="en-US" smtClean="0"/>
              <a:pPr>
                <a:defRPr/>
              </a:pPr>
              <a:t>6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12544939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informatik.tu-darmstadt.de/systems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1A095C1-A07F-F6A4-A853-01D4C8E1E9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284163"/>
            <a:ext cx="8786812" cy="1566862"/>
          </a:xfrm>
          <a:prstGeom prst="rect">
            <a:avLst/>
          </a:prstGeom>
          <a:solidFill>
            <a:srgbClr val="9C1C26"/>
          </a:solidFill>
          <a:ln>
            <a:noFill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defRPr/>
            </a:pPr>
            <a:endParaRPr lang="de-DE" altLang="de-DE"/>
          </a:p>
        </p:txBody>
      </p:sp>
      <p:sp>
        <p:nvSpPr>
          <p:cNvPr id="4" name="Rectangle 8">
            <a:extLst>
              <a:ext uri="{FF2B5EF4-FFF2-40B4-BE49-F238E27FC236}">
                <a16:creationId xmlns:a16="http://schemas.microsoft.com/office/drawing/2014/main" id="{1E393069-EEB7-DA41-DB57-D7E1BD9E5B6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79388" y="155575"/>
            <a:ext cx="8786812" cy="109538"/>
          </a:xfrm>
          <a:prstGeom prst="rect">
            <a:avLst/>
          </a:prstGeom>
          <a:solidFill>
            <a:srgbClr val="9C1C26"/>
          </a:solidFill>
          <a:ln>
            <a:noFill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endParaRPr lang="de-DE" altLang="de-DE">
              <a:cs typeface="Tahoma" pitchFamily="34" charset="0"/>
            </a:endParaRPr>
          </a:p>
        </p:txBody>
      </p:sp>
      <p:sp>
        <p:nvSpPr>
          <p:cNvPr id="5" name="Line 14">
            <a:extLst>
              <a:ext uri="{FF2B5EF4-FFF2-40B4-BE49-F238E27FC236}">
                <a16:creationId xmlns:a16="http://schemas.microsoft.com/office/drawing/2014/main" id="{DFB720B0-B14A-4054-F9AC-E00EF3D24123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9388" y="1851025"/>
            <a:ext cx="8786812" cy="0"/>
          </a:xfrm>
          <a:prstGeom prst="line">
            <a:avLst/>
          </a:prstGeom>
          <a:noFill/>
          <a:ln w="762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15">
            <a:extLst>
              <a:ext uri="{FF2B5EF4-FFF2-40B4-BE49-F238E27FC236}">
                <a16:creationId xmlns:a16="http://schemas.microsoft.com/office/drawing/2014/main" id="{A6F609E3-B148-CAB3-C6AB-07258C0B75C7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9388" y="4775200"/>
            <a:ext cx="8786812" cy="0"/>
          </a:xfrm>
          <a:prstGeom prst="line">
            <a:avLst/>
          </a:prstGeom>
          <a:noFill/>
          <a:ln w="762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14">
            <a:extLst>
              <a:ext uri="{FF2B5EF4-FFF2-40B4-BE49-F238E27FC236}">
                <a16:creationId xmlns:a16="http://schemas.microsoft.com/office/drawing/2014/main" id="{D37362A2-77E1-4268-9065-E9547FC22273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9388" y="285750"/>
            <a:ext cx="8786812" cy="0"/>
          </a:xfrm>
          <a:prstGeom prst="line">
            <a:avLst/>
          </a:prstGeom>
          <a:noFill/>
          <a:ln w="1524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Fußzeilenplatzhalter 3">
            <a:extLst>
              <a:ext uri="{FF2B5EF4-FFF2-40B4-BE49-F238E27FC236}">
                <a16:creationId xmlns:a16="http://schemas.microsoft.com/office/drawing/2014/main" id="{C19BC082-84C3-9E39-4711-087A2B38AC6E}"/>
              </a:ext>
            </a:extLst>
          </p:cNvPr>
          <p:cNvSpPr txBox="1">
            <a:spLocks/>
          </p:cNvSpPr>
          <p:nvPr userDrawn="1"/>
        </p:nvSpPr>
        <p:spPr>
          <a:xfrm>
            <a:off x="84138" y="4803775"/>
            <a:ext cx="7273925" cy="173038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4C9207C-9F80-4C03-91CA-81700BC7AF91}" type="datetime1">
              <a:rPr lang="de-DE" altLang="en-US" sz="1000" smtClean="0">
                <a:cs typeface="Tahoma" panose="020B060403050404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29.01.2023</a:t>
            </a:fld>
            <a:r>
              <a:rPr lang="de-DE" altLang="en-US" sz="1000">
                <a:cs typeface="Tahoma" panose="020B0604030504040204" pitchFamily="34" charset="0"/>
              </a:rPr>
              <a:t>  |  Institute </a:t>
            </a:r>
            <a:r>
              <a:rPr lang="en-US" sz="1000" err="1">
                <a:hlinkClick r:id="rId2"/>
              </a:rPr>
              <a:t>Systems@TUDa</a:t>
            </a:r>
            <a:r>
              <a:rPr lang="en-US" sz="1000">
                <a:hlinkClick r:id="rId2"/>
              </a:rPr>
              <a:t> Group</a:t>
            </a:r>
            <a:r>
              <a:rPr lang="de-DE" altLang="en-US" sz="1000">
                <a:cs typeface="Tahoma" panose="020B0604030504040204" pitchFamily="34" charset="0"/>
              </a:rPr>
              <a:t>  |  </a:t>
            </a:r>
            <a:r>
              <a:rPr lang="en-US" sz="1000"/>
              <a:t>Distributed and Networked Systems </a:t>
            </a:r>
            <a:r>
              <a:rPr lang="de-DE" altLang="en-US" sz="1000">
                <a:cs typeface="Tahoma" panose="020B0604030504040204" pitchFamily="34" charset="0"/>
              </a:rPr>
              <a:t>|  Prof. </a:t>
            </a:r>
            <a:r>
              <a:rPr lang="en-US" sz="1000" b="0" err="1"/>
              <a:t>Zsolt</a:t>
            </a:r>
            <a:r>
              <a:rPr lang="en-US" sz="1000" b="0"/>
              <a:t> István</a:t>
            </a:r>
            <a:r>
              <a:rPr lang="de-DE" altLang="en-US" sz="1000">
                <a:cs typeface="Tahoma" panose="020B0604030504040204" pitchFamily="34" charset="0"/>
              </a:rPr>
              <a:t>  |  Ritesh Shrestha</a:t>
            </a:r>
            <a:endParaRPr lang="en-US" sz="1000" b="0"/>
          </a:p>
          <a:p>
            <a:pPr eaLnBrk="1" hangingPunct="1">
              <a:defRPr/>
            </a:pPr>
            <a:endParaRPr lang="de-DE" altLang="en-US" sz="1000">
              <a:cs typeface="Tahoma" panose="020B0604030504040204" pitchFamily="34" charset="0"/>
            </a:endParaRPr>
          </a:p>
          <a:p>
            <a:pPr eaLnBrk="1" hangingPunct="1">
              <a:defRPr/>
            </a:pPr>
            <a:endParaRPr lang="de-DE" altLang="en-US" sz="1000">
              <a:cs typeface="Tahoma" panose="020B0604030504040204" pitchFamily="34" charset="0"/>
            </a:endParaRPr>
          </a:p>
        </p:txBody>
      </p:sp>
      <p:pic>
        <p:nvPicPr>
          <p:cNvPr id="9" name="Picture 9" descr="tud_logo">
            <a:extLst>
              <a:ext uri="{FF2B5EF4-FFF2-40B4-BE49-F238E27FC236}">
                <a16:creationId xmlns:a16="http://schemas.microsoft.com/office/drawing/2014/main" id="{E471B585-67A6-F6CC-DBA2-1FE1338C3F3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53"/>
          <a:stretch>
            <a:fillRect/>
          </a:stretch>
        </p:blipFill>
        <p:spPr bwMode="auto">
          <a:xfrm>
            <a:off x="7653338" y="401638"/>
            <a:ext cx="1427162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7044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51520" y="1095623"/>
            <a:ext cx="6840760" cy="708422"/>
          </a:xfrm>
        </p:spPr>
        <p:txBody>
          <a:bodyPr tIns="0" bIns="0"/>
          <a:lstStyle>
            <a:lvl1pPr marL="0" indent="0">
              <a:spcBef>
                <a:spcPct val="0"/>
              </a:spcBef>
              <a:buFont typeface="Wingdings" pitchFamily="2" charset="2"/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Formatvorlage des Untertitelmasters durch Klicken bearbeiten</a:t>
            </a:r>
          </a:p>
        </p:txBody>
      </p:sp>
      <p:sp>
        <p:nvSpPr>
          <p:cNvPr id="12" name="Titel 11"/>
          <p:cNvSpPr>
            <a:spLocks noGrp="1"/>
          </p:cNvSpPr>
          <p:nvPr>
            <p:ph type="title"/>
          </p:nvPr>
        </p:nvSpPr>
        <p:spPr>
          <a:xfrm>
            <a:off x="270898" y="375294"/>
            <a:ext cx="6821383" cy="6286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Titelmasterformat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855200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81500" y="366712"/>
            <a:ext cx="6821383" cy="628650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5" name="Inhaltsplatzhalter 2"/>
          <p:cNvSpPr>
            <a:spLocks noGrp="1"/>
          </p:cNvSpPr>
          <p:nvPr>
            <p:ph idx="11"/>
          </p:nvPr>
        </p:nvSpPr>
        <p:spPr>
          <a:xfrm>
            <a:off x="180490" y="1185474"/>
            <a:ext cx="8783998" cy="3359957"/>
          </a:xfrm>
        </p:spPr>
        <p:txBody>
          <a:bodyPr/>
          <a:lstStyle/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5256528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513" y="3305177"/>
            <a:ext cx="8784975" cy="1021557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79513" y="2180035"/>
            <a:ext cx="8784975" cy="112514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 dirty="0"/>
              <a:t>Textmasterformate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98257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81122" y="366712"/>
            <a:ext cx="6821383" cy="62865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181121" y="1194198"/>
            <a:ext cx="4357220" cy="3413536"/>
          </a:xfrm>
        </p:spPr>
        <p:txBody>
          <a:bodyPr/>
          <a:lstStyle>
            <a:lvl1pPr marL="0" indent="0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Inhaltsplatzhalter 2"/>
          <p:cNvSpPr>
            <a:spLocks noGrp="1"/>
          </p:cNvSpPr>
          <p:nvPr>
            <p:ph sz="half" idx="10"/>
          </p:nvPr>
        </p:nvSpPr>
        <p:spPr>
          <a:xfrm>
            <a:off x="4663618" y="1194198"/>
            <a:ext cx="4300870" cy="3413536"/>
          </a:xfrm>
        </p:spPr>
        <p:txBody>
          <a:bodyPr/>
          <a:lstStyle>
            <a:lvl1pPr marL="0" indent="0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4284474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514" y="366712"/>
            <a:ext cx="6808162" cy="62865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179514" y="1194197"/>
            <a:ext cx="2860710" cy="3486072"/>
          </a:xfrm>
        </p:spPr>
        <p:txBody>
          <a:bodyPr/>
          <a:lstStyle>
            <a:lvl1pPr marL="0" indent="0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Inhaltsplatzhalter 2"/>
          <p:cNvSpPr>
            <a:spLocks noGrp="1"/>
          </p:cNvSpPr>
          <p:nvPr>
            <p:ph sz="half" idx="10"/>
          </p:nvPr>
        </p:nvSpPr>
        <p:spPr>
          <a:xfrm>
            <a:off x="3131840" y="1194197"/>
            <a:ext cx="2860710" cy="3486072"/>
          </a:xfrm>
        </p:spPr>
        <p:txBody>
          <a:bodyPr/>
          <a:lstStyle>
            <a:lvl1pPr marL="0" indent="0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Inhaltsplatzhalter 2"/>
          <p:cNvSpPr>
            <a:spLocks noGrp="1"/>
          </p:cNvSpPr>
          <p:nvPr>
            <p:ph sz="half" idx="12"/>
          </p:nvPr>
        </p:nvSpPr>
        <p:spPr>
          <a:xfrm>
            <a:off x="6084168" y="1194197"/>
            <a:ext cx="2880320" cy="3486072"/>
          </a:xfrm>
        </p:spPr>
        <p:txBody>
          <a:bodyPr/>
          <a:lstStyle>
            <a:lvl1pPr marL="0" indent="0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5485002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514" y="366712"/>
            <a:ext cx="6808162" cy="62865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3638197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19943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419872" y="1184707"/>
            <a:ext cx="5544616" cy="343058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512" y="1184707"/>
            <a:ext cx="3147109" cy="3430580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dirty="0"/>
              <a:t>Textmasterformate durch Klicken bearbeiten</a:t>
            </a:r>
          </a:p>
        </p:txBody>
      </p:sp>
      <p:sp>
        <p:nvSpPr>
          <p:cNvPr id="5" name="Titel 1"/>
          <p:cNvSpPr>
            <a:spLocks noGrp="1"/>
          </p:cNvSpPr>
          <p:nvPr>
            <p:ph type="title"/>
          </p:nvPr>
        </p:nvSpPr>
        <p:spPr>
          <a:xfrm>
            <a:off x="179512" y="366712"/>
            <a:ext cx="6840000" cy="62865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24573690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1185555"/>
            <a:ext cx="5486400" cy="23330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2609792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hyperlink" Target="https://www.informatik.tu-darmstadt.de/systems" TargetMode="Externa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3">
            <a:extLst>
              <a:ext uri="{FF2B5EF4-FFF2-40B4-BE49-F238E27FC236}">
                <a16:creationId xmlns:a16="http://schemas.microsoft.com/office/drawing/2014/main" id="{5DE6B28B-1924-6586-93DE-A8B7125F99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565150"/>
            <a:ext cx="8713787" cy="811213"/>
          </a:xfrm>
          <a:prstGeom prst="rect">
            <a:avLst/>
          </a:prstGeom>
          <a:noFill/>
          <a:ln>
            <a:noFill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endParaRPr lang="de-DE" altLang="de-DE">
              <a:cs typeface="Tahoma" pitchFamily="34" charset="0"/>
            </a:endParaRPr>
          </a:p>
        </p:txBody>
      </p:sp>
      <p:sp>
        <p:nvSpPr>
          <p:cNvPr id="1027" name="Rectangle 2">
            <a:extLst>
              <a:ext uri="{FF2B5EF4-FFF2-40B4-BE49-F238E27FC236}">
                <a16:creationId xmlns:a16="http://schemas.microsoft.com/office/drawing/2014/main" id="{F8845DD2-FED3-B722-60E5-2D5584F4974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77800" y="385763"/>
            <a:ext cx="7131050" cy="628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Study and Evaluation of Sharding in Distributed Databases</a:t>
            </a:r>
          </a:p>
        </p:txBody>
      </p:sp>
      <p:sp>
        <p:nvSpPr>
          <p:cNvPr id="1028" name="Rectangle 3">
            <a:extLst>
              <a:ext uri="{FF2B5EF4-FFF2-40B4-BE49-F238E27FC236}">
                <a16:creationId xmlns:a16="http://schemas.microsoft.com/office/drawing/2014/main" id="{0E3DD2D1-FF1A-23DD-8EA5-98A5B99717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203325"/>
            <a:ext cx="8786812" cy="342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45720" rIns="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Textmasterformate durch Klicken bearbeiten</a:t>
            </a:r>
          </a:p>
          <a:p>
            <a:pPr lvl="1"/>
            <a:r>
              <a:rPr lang="de-DE" altLang="de-DE" dirty="0"/>
              <a:t>Zweite Ebene</a:t>
            </a:r>
          </a:p>
          <a:p>
            <a:pPr lvl="2"/>
            <a:r>
              <a:rPr lang="de-DE" altLang="de-DE" dirty="0"/>
              <a:t>Dritte Ebene</a:t>
            </a:r>
          </a:p>
          <a:p>
            <a:pPr lvl="3"/>
            <a:r>
              <a:rPr lang="de-DE" altLang="de-DE" dirty="0"/>
              <a:t>Vierte Ebene</a:t>
            </a:r>
          </a:p>
          <a:p>
            <a:pPr lvl="4"/>
            <a:r>
              <a:rPr lang="de-DE" altLang="de-DE" dirty="0"/>
              <a:t>Fünfte Ebene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7EE7FA02-8471-10FC-E7F8-70BDA1ADB0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166688"/>
            <a:ext cx="8786812" cy="107950"/>
          </a:xfrm>
          <a:prstGeom prst="rect">
            <a:avLst/>
          </a:prstGeom>
          <a:solidFill>
            <a:srgbClr val="9C1C26"/>
          </a:solidFill>
          <a:ln>
            <a:noFill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endParaRPr lang="de-DE" altLang="de-DE">
              <a:cs typeface="Tahoma" pitchFamily="34" charset="0"/>
            </a:endParaRPr>
          </a:p>
        </p:txBody>
      </p:sp>
      <p:sp>
        <p:nvSpPr>
          <p:cNvPr id="1030" name="Line 14">
            <a:extLst>
              <a:ext uri="{FF2B5EF4-FFF2-40B4-BE49-F238E27FC236}">
                <a16:creationId xmlns:a16="http://schemas.microsoft.com/office/drawing/2014/main" id="{99272A64-D8FF-AD00-A390-533C1648A8F5}"/>
              </a:ext>
            </a:extLst>
          </p:cNvPr>
          <p:cNvSpPr>
            <a:spLocks noChangeShapeType="1"/>
          </p:cNvSpPr>
          <p:nvPr/>
        </p:nvSpPr>
        <p:spPr bwMode="auto">
          <a:xfrm>
            <a:off x="179388" y="1106488"/>
            <a:ext cx="8786812" cy="0"/>
          </a:xfrm>
          <a:prstGeom prst="line">
            <a:avLst/>
          </a:prstGeom>
          <a:noFill/>
          <a:ln w="762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Fußzeilenplatzhalter 3">
            <a:extLst>
              <a:ext uri="{FF2B5EF4-FFF2-40B4-BE49-F238E27FC236}">
                <a16:creationId xmlns:a16="http://schemas.microsoft.com/office/drawing/2014/main" id="{AFC94279-DACA-3B83-0270-80797EAB29F2}"/>
              </a:ext>
            </a:extLst>
          </p:cNvPr>
          <p:cNvSpPr txBox="1">
            <a:spLocks/>
          </p:cNvSpPr>
          <p:nvPr userDrawn="1"/>
        </p:nvSpPr>
        <p:spPr>
          <a:xfrm>
            <a:off x="84138" y="4803775"/>
            <a:ext cx="7273925" cy="173038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4C9207C-9F80-4C03-91CA-81700BC7AF91}" type="datetime1">
              <a:rPr lang="de-DE" altLang="en-US" sz="1000" smtClean="0">
                <a:cs typeface="Tahoma" panose="020B060403050404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29.01.2023</a:t>
            </a:fld>
            <a:r>
              <a:rPr lang="de-DE" altLang="en-US" sz="1000">
                <a:cs typeface="Tahoma" panose="020B0604030504040204" pitchFamily="34" charset="0"/>
              </a:rPr>
              <a:t>  |  Institute </a:t>
            </a:r>
            <a:r>
              <a:rPr lang="en-US" sz="1000" err="1">
                <a:hlinkClick r:id="rId11"/>
              </a:rPr>
              <a:t>Systems@TUDa</a:t>
            </a:r>
            <a:r>
              <a:rPr lang="en-US" sz="1000">
                <a:hlinkClick r:id="rId11"/>
              </a:rPr>
              <a:t> Group</a:t>
            </a:r>
            <a:r>
              <a:rPr lang="de-DE" altLang="en-US" sz="1000">
                <a:cs typeface="Tahoma" panose="020B0604030504040204" pitchFamily="34" charset="0"/>
              </a:rPr>
              <a:t>  |  </a:t>
            </a:r>
            <a:r>
              <a:rPr lang="en-US" sz="1000"/>
              <a:t>Distributed and Networked Systems </a:t>
            </a:r>
            <a:r>
              <a:rPr lang="de-DE" altLang="en-US" sz="1000">
                <a:cs typeface="Tahoma" panose="020B0604030504040204" pitchFamily="34" charset="0"/>
              </a:rPr>
              <a:t>|  Prof. </a:t>
            </a:r>
            <a:r>
              <a:rPr lang="en-US" sz="1000" b="0" err="1"/>
              <a:t>Zsolt</a:t>
            </a:r>
            <a:r>
              <a:rPr lang="en-US" sz="1000" b="0"/>
              <a:t> István</a:t>
            </a:r>
            <a:r>
              <a:rPr lang="de-DE" altLang="en-US" sz="1000">
                <a:cs typeface="Tahoma" panose="020B0604030504040204" pitchFamily="34" charset="0"/>
              </a:rPr>
              <a:t>  |  Ritesh Shrestha</a:t>
            </a:r>
            <a:endParaRPr lang="en-US" sz="1000" b="0"/>
          </a:p>
          <a:p>
            <a:pPr eaLnBrk="1" hangingPunct="1">
              <a:defRPr/>
            </a:pPr>
            <a:endParaRPr lang="de-DE" altLang="en-US" sz="1000">
              <a:cs typeface="Tahoma" panose="020B0604030504040204" pitchFamily="34" charset="0"/>
            </a:endParaRPr>
          </a:p>
          <a:p>
            <a:pPr eaLnBrk="1" hangingPunct="1">
              <a:defRPr/>
            </a:pPr>
            <a:endParaRPr lang="de-DE" altLang="en-US" sz="1000">
              <a:cs typeface="Tahoma" panose="020B0604030504040204" pitchFamily="34" charset="0"/>
            </a:endParaRPr>
          </a:p>
        </p:txBody>
      </p:sp>
      <p:sp>
        <p:nvSpPr>
          <p:cNvPr id="2" name="Line 14">
            <a:extLst>
              <a:ext uri="{FF2B5EF4-FFF2-40B4-BE49-F238E27FC236}">
                <a16:creationId xmlns:a16="http://schemas.microsoft.com/office/drawing/2014/main" id="{1438C681-3711-3EDF-FA28-EE6091644027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9388" y="296863"/>
            <a:ext cx="8786812" cy="0"/>
          </a:xfrm>
          <a:prstGeom prst="line">
            <a:avLst/>
          </a:prstGeom>
          <a:noFill/>
          <a:ln w="1524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34" name="Line 15">
            <a:extLst>
              <a:ext uri="{FF2B5EF4-FFF2-40B4-BE49-F238E27FC236}">
                <a16:creationId xmlns:a16="http://schemas.microsoft.com/office/drawing/2014/main" id="{73DD820F-3D55-5B93-FBDD-8563B68BC986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9388" y="4775200"/>
            <a:ext cx="8786812" cy="0"/>
          </a:xfrm>
          <a:prstGeom prst="line">
            <a:avLst/>
          </a:prstGeom>
          <a:noFill/>
          <a:ln w="762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pic>
        <p:nvPicPr>
          <p:cNvPr id="1035" name="Picture 9" descr="tud_logo">
            <a:extLst>
              <a:ext uri="{FF2B5EF4-FFF2-40B4-BE49-F238E27FC236}">
                <a16:creationId xmlns:a16="http://schemas.microsoft.com/office/drawing/2014/main" id="{90B65A66-6CE8-308A-F32F-3B4CFABDF96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53"/>
          <a:stretch>
            <a:fillRect/>
          </a:stretch>
        </p:blipFill>
        <p:spPr bwMode="auto">
          <a:xfrm>
            <a:off x="7653338" y="401638"/>
            <a:ext cx="1427162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</p:sldLayoutIdLst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+mn-lt"/>
          <a:ea typeface="+mj-ea"/>
          <a:cs typeface="Tahoma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Tahoma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Tahoma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Tahoma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Tahom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</a:defRPr>
      </a:lvl9pPr>
    </p:titleStyle>
    <p:bodyStyle>
      <a:lvl1pPr marL="179388" indent="-179388" algn="l" rtl="0" eaLnBrk="0" fontAlgn="base" hangingPunct="0">
        <a:lnSpc>
          <a:spcPct val="130000"/>
        </a:lnSpc>
        <a:spcBef>
          <a:spcPts val="200"/>
        </a:spcBef>
        <a:spcAft>
          <a:spcPts val="225"/>
        </a:spcAft>
        <a:buFont typeface="Wingdings" panose="05000000000000000000" pitchFamily="2" charset="2"/>
        <a:defRPr sz="2000">
          <a:solidFill>
            <a:schemeClr val="tx1"/>
          </a:solidFill>
          <a:latin typeface="+mn-lt"/>
          <a:ea typeface="+mn-ea"/>
          <a:cs typeface="Tahoma" pitchFamily="34" charset="0"/>
        </a:defRPr>
      </a:lvl1pPr>
      <a:lvl2pPr marL="179388" indent="-177800" algn="l" rtl="0" eaLnBrk="0" fontAlgn="base" hangingPunct="0">
        <a:lnSpc>
          <a:spcPct val="130000"/>
        </a:lnSpc>
        <a:spcBef>
          <a:spcPts val="200"/>
        </a:spcBef>
        <a:spcAft>
          <a:spcPts val="225"/>
        </a:spcAft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cs typeface="Tahoma" pitchFamily="34" charset="0"/>
        </a:defRPr>
      </a:lvl2pPr>
      <a:lvl3pPr marL="538163" indent="-187325" algn="l" rtl="0" eaLnBrk="0" fontAlgn="base" hangingPunct="0">
        <a:lnSpc>
          <a:spcPct val="130000"/>
        </a:lnSpc>
        <a:spcBef>
          <a:spcPts val="200"/>
        </a:spcBef>
        <a:spcAft>
          <a:spcPts val="225"/>
        </a:spcAft>
        <a:buFont typeface="Wingdings" panose="05000000000000000000" pitchFamily="2" charset="2"/>
        <a:buChar char="§"/>
        <a:defRPr>
          <a:solidFill>
            <a:schemeClr val="tx1"/>
          </a:solidFill>
          <a:latin typeface="+mn-lt"/>
          <a:cs typeface="Tahoma" pitchFamily="34" charset="0"/>
        </a:defRPr>
      </a:lvl3pPr>
      <a:lvl4pPr marL="717550" indent="-173038" algn="l" rtl="0" eaLnBrk="0" fontAlgn="base" hangingPunct="0">
        <a:lnSpc>
          <a:spcPct val="130000"/>
        </a:lnSpc>
        <a:spcBef>
          <a:spcPts val="200"/>
        </a:spcBef>
        <a:spcAft>
          <a:spcPts val="225"/>
        </a:spcAft>
        <a:buFont typeface="Wingdings" panose="05000000000000000000" pitchFamily="2" charset="2"/>
        <a:buChar char="§"/>
        <a:defRPr sz="1600">
          <a:solidFill>
            <a:schemeClr val="tx1"/>
          </a:solidFill>
          <a:latin typeface="+mn-lt"/>
          <a:cs typeface="Tahoma" pitchFamily="34" charset="0"/>
        </a:defRPr>
      </a:lvl4pPr>
      <a:lvl5pPr marL="908050" indent="-188913" algn="l" rtl="0" eaLnBrk="0" fontAlgn="base" hangingPunct="0">
        <a:lnSpc>
          <a:spcPct val="130000"/>
        </a:lnSpc>
        <a:spcBef>
          <a:spcPts val="200"/>
        </a:spcBef>
        <a:spcAft>
          <a:spcPts val="225"/>
        </a:spcAft>
        <a:buFont typeface="Wingdings" panose="05000000000000000000" pitchFamily="2" charset="2"/>
        <a:buChar char="§"/>
        <a:defRPr sz="1600">
          <a:solidFill>
            <a:schemeClr val="tx1"/>
          </a:solidFill>
          <a:latin typeface="+mn-lt"/>
          <a:cs typeface="Tahoma" pitchFamily="34" charset="0"/>
        </a:defRPr>
      </a:lvl5pPr>
      <a:lvl6pPr marL="1365250" indent="-188913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6pPr>
      <a:lvl7pPr marL="1822450" indent="-188913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7pPr>
      <a:lvl8pPr marL="2279650" indent="-188913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8pPr>
      <a:lvl9pPr marL="2736850" indent="-188913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Untertitel 1">
            <a:extLst>
              <a:ext uri="{FF2B5EF4-FFF2-40B4-BE49-F238E27FC236}">
                <a16:creationId xmlns:a16="http://schemas.microsoft.com/office/drawing/2014/main" id="{C1D603C1-3A6B-B3AB-B01D-7680A98B622B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250825" y="1087438"/>
            <a:ext cx="6842125" cy="708025"/>
          </a:xfrm>
        </p:spPr>
        <p:txBody>
          <a:bodyPr/>
          <a:lstStyle/>
          <a:p>
            <a:pPr eaLnBrk="1" hangingPunct="1"/>
            <a:r>
              <a:rPr lang="de-DE" altLang="de-DE" dirty="0"/>
              <a:t>A Database Optimization </a:t>
            </a:r>
            <a:r>
              <a:rPr lang="en-GB" altLang="de-DE" dirty="0"/>
              <a:t>Strategy For Horizontal Scaling</a:t>
            </a:r>
          </a:p>
        </p:txBody>
      </p:sp>
      <p:sp>
        <p:nvSpPr>
          <p:cNvPr id="5123" name="Titel 2">
            <a:extLst>
              <a:ext uri="{FF2B5EF4-FFF2-40B4-BE49-F238E27FC236}">
                <a16:creationId xmlns:a16="http://schemas.microsoft.com/office/drawing/2014/main" id="{41FBCA64-DA6D-F6A7-9F5E-4775E3FF8DB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71463" y="366713"/>
            <a:ext cx="6821487" cy="628650"/>
          </a:xfrm>
        </p:spPr>
        <p:txBody>
          <a:bodyPr/>
          <a:lstStyle/>
          <a:p>
            <a:pPr eaLnBrk="1" hangingPunct="1"/>
            <a:r>
              <a:rPr lang="de-DE" altLang="de-DE" dirty="0"/>
              <a:t>Study and Evaluation of Sharded Distributed Databases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DBE3A-CEAC-AC87-70E3-B625BE7B6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43F3FC-7FCF-0215-B238-34D148D88BC6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dirty="0"/>
              <a:t>Limitations of single database server to store and manage humongous amount of data, which is exponentially rising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dirty="0"/>
              <a:t>Efficient distribution of huge data among multiple databases, to introduce a highly scalable distributed database system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dirty="0"/>
          </a:p>
          <a:p>
            <a:pPr marL="0" indent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8540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9113DBB-8DE1-546B-4AF0-1047D269E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System Design (Abstract Overview)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757F50-8B9E-9A7C-F148-09FA32AEEBD0}"/>
              </a:ext>
            </a:extLst>
          </p:cNvPr>
          <p:cNvSpPr/>
          <p:nvPr/>
        </p:nvSpPr>
        <p:spPr>
          <a:xfrm>
            <a:off x="683567" y="2413719"/>
            <a:ext cx="7632847" cy="1049286"/>
          </a:xfrm>
          <a:prstGeom prst="roundRect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6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Middleware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FC6408-FB21-B420-DF0A-01DF62EB6C38}"/>
              </a:ext>
            </a:extLst>
          </p:cNvPr>
          <p:cNvSpPr/>
          <p:nvPr/>
        </p:nvSpPr>
        <p:spPr>
          <a:xfrm>
            <a:off x="827586" y="2608322"/>
            <a:ext cx="1070996" cy="44068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Service Listener</a:t>
            </a:r>
          </a:p>
        </p:txBody>
      </p:sp>
      <p:sp>
        <p:nvSpPr>
          <p:cNvPr id="11" name="Cylinder 10">
            <a:extLst>
              <a:ext uri="{FF2B5EF4-FFF2-40B4-BE49-F238E27FC236}">
                <a16:creationId xmlns:a16="http://schemas.microsoft.com/office/drawing/2014/main" id="{C6702F08-2141-C13E-DE30-6607953D3F9F}"/>
              </a:ext>
            </a:extLst>
          </p:cNvPr>
          <p:cNvSpPr/>
          <p:nvPr/>
        </p:nvSpPr>
        <p:spPr>
          <a:xfrm>
            <a:off x="3526924" y="3867894"/>
            <a:ext cx="715010" cy="659765"/>
          </a:xfrm>
          <a:prstGeom prst="can">
            <a:avLst/>
          </a:prstGeom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>
                <a:solidFill>
                  <a:schemeClr val="tx1"/>
                </a:solidFill>
              </a:rPr>
              <a:t>D</a:t>
            </a:r>
            <a:r>
              <a:rPr lang="en-US" baseline="-2500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Cylinder 11">
            <a:extLst>
              <a:ext uri="{FF2B5EF4-FFF2-40B4-BE49-F238E27FC236}">
                <a16:creationId xmlns:a16="http://schemas.microsoft.com/office/drawing/2014/main" id="{E21FF796-4B47-0C3E-8E1E-13984A92C4C1}"/>
              </a:ext>
            </a:extLst>
          </p:cNvPr>
          <p:cNvSpPr/>
          <p:nvPr/>
        </p:nvSpPr>
        <p:spPr>
          <a:xfrm>
            <a:off x="4743584" y="3867893"/>
            <a:ext cx="715010" cy="659765"/>
          </a:xfrm>
          <a:prstGeom prst="can">
            <a:avLst/>
          </a:prstGeom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>
                <a:solidFill>
                  <a:schemeClr val="tx1"/>
                </a:solidFill>
              </a:rPr>
              <a:t>D</a:t>
            </a:r>
            <a:r>
              <a:rPr lang="en-US" baseline="-2500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3" name="Cylinder 12">
            <a:extLst>
              <a:ext uri="{FF2B5EF4-FFF2-40B4-BE49-F238E27FC236}">
                <a16:creationId xmlns:a16="http://schemas.microsoft.com/office/drawing/2014/main" id="{0AD1A175-6C1E-1FE7-6435-1921E2508F24}"/>
              </a:ext>
            </a:extLst>
          </p:cNvPr>
          <p:cNvSpPr/>
          <p:nvPr/>
        </p:nvSpPr>
        <p:spPr>
          <a:xfrm>
            <a:off x="5960244" y="3867894"/>
            <a:ext cx="715010" cy="659765"/>
          </a:xfrm>
          <a:prstGeom prst="can">
            <a:avLst/>
          </a:prstGeom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</a:t>
            </a:r>
            <a:r>
              <a:rPr lang="en-US" baseline="-25000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14" name="Cylinder 13">
            <a:extLst>
              <a:ext uri="{FF2B5EF4-FFF2-40B4-BE49-F238E27FC236}">
                <a16:creationId xmlns:a16="http://schemas.microsoft.com/office/drawing/2014/main" id="{79B8FC02-653A-19E2-496B-EBA10F08C087}"/>
              </a:ext>
            </a:extLst>
          </p:cNvPr>
          <p:cNvSpPr/>
          <p:nvPr/>
        </p:nvSpPr>
        <p:spPr>
          <a:xfrm>
            <a:off x="2310264" y="3867894"/>
            <a:ext cx="715010" cy="659765"/>
          </a:xfrm>
          <a:prstGeom prst="can">
            <a:avLst/>
          </a:prstGeom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>
                <a:solidFill>
                  <a:schemeClr val="tx1"/>
                </a:solidFill>
              </a:rPr>
              <a:t>D</a:t>
            </a:r>
            <a:r>
              <a:rPr lang="en-US" baseline="-2500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40D86C-7F58-FE1E-73A0-1A640DCD734A}"/>
              </a:ext>
            </a:extLst>
          </p:cNvPr>
          <p:cNvSpPr/>
          <p:nvPr/>
        </p:nvSpPr>
        <p:spPr>
          <a:xfrm>
            <a:off x="2127426" y="2615056"/>
            <a:ext cx="2151329" cy="4320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200" dirty="0">
                <a:ea typeface="Calibri" panose="020F0502020204030204" pitchFamily="34" charset="0"/>
                <a:cs typeface="Times New Roman" panose="02020603050405020304" pitchFamily="18" charset="0"/>
              </a:rPr>
              <a:t>Query Routing and </a:t>
            </a:r>
            <a:r>
              <a:rPr lang="en-US" sz="1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Result Compilation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FCC90ED-1545-8742-9E1B-BA85D43FE484}"/>
              </a:ext>
            </a:extLst>
          </p:cNvPr>
          <p:cNvSpPr/>
          <p:nvPr/>
        </p:nvSpPr>
        <p:spPr>
          <a:xfrm>
            <a:off x="6894595" y="2608322"/>
            <a:ext cx="1272772" cy="4359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Shard Management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F381070-7C91-DAF6-3D89-A4C2113925BD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2667769" y="3463005"/>
            <a:ext cx="0" cy="40488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DA22712-21DA-7D65-2024-B628402F2FA3}"/>
              </a:ext>
            </a:extLst>
          </p:cNvPr>
          <p:cNvCxnSpPr>
            <a:cxnSpLocks/>
            <a:stCxn id="11" idx="1"/>
          </p:cNvCxnSpPr>
          <p:nvPr/>
        </p:nvCxnSpPr>
        <p:spPr>
          <a:xfrm flipV="1">
            <a:off x="3884429" y="3463005"/>
            <a:ext cx="0" cy="404889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0AB1898-FEF4-0379-B23B-F61526CCDEC2}"/>
              </a:ext>
            </a:extLst>
          </p:cNvPr>
          <p:cNvCxnSpPr>
            <a:cxnSpLocks/>
            <a:stCxn id="12" idx="1"/>
          </p:cNvCxnSpPr>
          <p:nvPr/>
        </p:nvCxnSpPr>
        <p:spPr>
          <a:xfrm flipV="1">
            <a:off x="5101089" y="3463005"/>
            <a:ext cx="0" cy="40488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BB162AE-F8D4-1A75-CEA5-E2495D591C4B}"/>
              </a:ext>
            </a:extLst>
          </p:cNvPr>
          <p:cNvCxnSpPr>
            <a:cxnSpLocks/>
            <a:stCxn id="13" idx="1"/>
          </p:cNvCxnSpPr>
          <p:nvPr/>
        </p:nvCxnSpPr>
        <p:spPr>
          <a:xfrm flipV="1">
            <a:off x="6317749" y="3463005"/>
            <a:ext cx="0" cy="404889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0CAF8CD6-AF7B-32F5-B66F-CC9B1C90A8F7}"/>
              </a:ext>
            </a:extLst>
          </p:cNvPr>
          <p:cNvSpPr txBox="1"/>
          <p:nvPr/>
        </p:nvSpPr>
        <p:spPr>
          <a:xfrm>
            <a:off x="5512651" y="4213819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…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13F6915-D8A3-5176-E4FD-88EEE5F33B5E}"/>
              </a:ext>
            </a:extLst>
          </p:cNvPr>
          <p:cNvSpPr txBox="1"/>
          <p:nvPr/>
        </p:nvSpPr>
        <p:spPr>
          <a:xfrm>
            <a:off x="3479143" y="1577653"/>
            <a:ext cx="2198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Clients/Applications</a:t>
            </a:r>
          </a:p>
        </p:txBody>
      </p:sp>
      <p:pic>
        <p:nvPicPr>
          <p:cNvPr id="36" name="Graphic 35" descr="Users outline">
            <a:extLst>
              <a:ext uri="{FF2B5EF4-FFF2-40B4-BE49-F238E27FC236}">
                <a16:creationId xmlns:a16="http://schemas.microsoft.com/office/drawing/2014/main" id="{D901801E-FE53-A69B-A6DE-6AABF486BF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7181" y="1304368"/>
            <a:ext cx="914400" cy="914400"/>
          </a:xfrm>
          <a:prstGeom prst="rect">
            <a:avLst/>
          </a:prstGeom>
        </p:spPr>
      </p:pic>
      <p:pic>
        <p:nvPicPr>
          <p:cNvPr id="37" name="Graphic 36" descr="Users outline">
            <a:extLst>
              <a:ext uri="{FF2B5EF4-FFF2-40B4-BE49-F238E27FC236}">
                <a16:creationId xmlns:a16="http://schemas.microsoft.com/office/drawing/2014/main" id="{EABD1E97-A525-58DA-5FF7-2BEFECC09F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46628" y="1304368"/>
            <a:ext cx="914400" cy="914400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44C66B7-79D1-9030-493E-C88084494178}"/>
              </a:ext>
            </a:extLst>
          </p:cNvPr>
          <p:cNvCxnSpPr>
            <a:cxnSpLocks/>
          </p:cNvCxnSpPr>
          <p:nvPr/>
        </p:nvCxnSpPr>
        <p:spPr>
          <a:xfrm>
            <a:off x="3003828" y="2130815"/>
            <a:ext cx="0" cy="296919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71F1878-1463-9DE6-1425-241A60E3D8F4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4492759" y="1995686"/>
            <a:ext cx="7232" cy="418033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69FBF5B-169C-6FE2-FE3A-61C23E7A319A}"/>
              </a:ext>
            </a:extLst>
          </p:cNvPr>
          <p:cNvCxnSpPr>
            <a:cxnSpLocks/>
          </p:cNvCxnSpPr>
          <p:nvPr/>
        </p:nvCxnSpPr>
        <p:spPr>
          <a:xfrm>
            <a:off x="6134381" y="2130815"/>
            <a:ext cx="0" cy="296919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A213F5C-55A5-85AA-38FF-C667CC5B9C7E}"/>
              </a:ext>
            </a:extLst>
          </p:cNvPr>
          <p:cNvSpPr txBox="1"/>
          <p:nvPr/>
        </p:nvSpPr>
        <p:spPr>
          <a:xfrm>
            <a:off x="5078184" y="1989319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46AF63-6627-7E64-0E05-14B4E608EB39}"/>
              </a:ext>
            </a:extLst>
          </p:cNvPr>
          <p:cNvSpPr txBox="1"/>
          <p:nvPr/>
        </p:nvSpPr>
        <p:spPr>
          <a:xfrm>
            <a:off x="3499068" y="199568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00BEC4-D36E-D9AA-4634-E4794B8C6A33}"/>
              </a:ext>
            </a:extLst>
          </p:cNvPr>
          <p:cNvSpPr txBox="1"/>
          <p:nvPr/>
        </p:nvSpPr>
        <p:spPr>
          <a:xfrm>
            <a:off x="6781917" y="4158326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Databases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1B297D-8FEA-17C3-2EB5-95C2A0F98B72}"/>
              </a:ext>
            </a:extLst>
          </p:cNvPr>
          <p:cNvSpPr/>
          <p:nvPr/>
        </p:nvSpPr>
        <p:spPr>
          <a:xfrm>
            <a:off x="4512764" y="2611624"/>
            <a:ext cx="2151330" cy="4359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Databas</a:t>
            </a:r>
            <a:r>
              <a:rPr lang="en-US" sz="1200" dirty="0">
                <a:ea typeface="Calibri" panose="020F0502020204030204" pitchFamily="34" charset="0"/>
                <a:cs typeface="Times New Roman" panose="02020603050405020304" pitchFamily="18" charset="0"/>
              </a:rPr>
              <a:t>e Communication</a:t>
            </a:r>
            <a:r>
              <a:rPr lang="en-US" sz="12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Interface</a:t>
            </a:r>
          </a:p>
        </p:txBody>
      </p:sp>
    </p:spTree>
    <p:extLst>
      <p:ext uri="{BB962C8B-B14F-4D97-AF65-F5344CB8AC3E}">
        <p14:creationId xmlns:p14="http://schemas.microsoft.com/office/powerpoint/2010/main" val="404834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5303C-58E0-561E-A055-CD13157A0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 Architecture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47B4577-9C93-7316-4902-504742CE79FA}"/>
              </a:ext>
            </a:extLst>
          </p:cNvPr>
          <p:cNvSpPr/>
          <p:nvPr/>
        </p:nvSpPr>
        <p:spPr>
          <a:xfrm>
            <a:off x="2344671" y="1743090"/>
            <a:ext cx="4675600" cy="2545256"/>
          </a:xfrm>
          <a:prstGeom prst="roundRect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chemeClr val="accent2"/>
              </a:solidFill>
            </a:endParaRPr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305FDE2E-EF6D-6198-60D9-CB5AA620A88F}"/>
              </a:ext>
            </a:extLst>
          </p:cNvPr>
          <p:cNvSpPr/>
          <p:nvPr/>
        </p:nvSpPr>
        <p:spPr>
          <a:xfrm>
            <a:off x="7789679" y="1604632"/>
            <a:ext cx="432048" cy="432047"/>
          </a:xfrm>
          <a:prstGeom prst="can">
            <a:avLst/>
          </a:prstGeom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D</a:t>
            </a:r>
            <a:r>
              <a:rPr lang="en-US" sz="12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4" name="Cylinder 13">
            <a:extLst>
              <a:ext uri="{FF2B5EF4-FFF2-40B4-BE49-F238E27FC236}">
                <a16:creationId xmlns:a16="http://schemas.microsoft.com/office/drawing/2014/main" id="{08343B62-9120-6C2B-8A11-F7A100BCA553}"/>
              </a:ext>
            </a:extLst>
          </p:cNvPr>
          <p:cNvSpPr/>
          <p:nvPr/>
        </p:nvSpPr>
        <p:spPr>
          <a:xfrm>
            <a:off x="7788972" y="3795887"/>
            <a:ext cx="432048" cy="432047"/>
          </a:xfrm>
          <a:prstGeom prst="can">
            <a:avLst/>
          </a:prstGeom>
          <a:ln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D</a:t>
            </a:r>
            <a:r>
              <a:rPr lang="en-US" sz="1200" baseline="-25000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81AFC3-B3DD-EA7D-15DB-AADAC7B81E10}"/>
              </a:ext>
            </a:extLst>
          </p:cNvPr>
          <p:cNvSpPr/>
          <p:nvPr/>
        </p:nvSpPr>
        <p:spPr>
          <a:xfrm>
            <a:off x="509894" y="1264465"/>
            <a:ext cx="936104" cy="813797"/>
          </a:xfrm>
          <a:prstGeom prst="rect">
            <a:avLst/>
          </a:prstGeom>
          <a:ln w="1905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200" dirty="0"/>
          </a:p>
          <a:p>
            <a:pPr algn="ctr"/>
            <a:endParaRPr lang="en-US" sz="1200" dirty="0"/>
          </a:p>
          <a:p>
            <a:pPr algn="ctr"/>
            <a:endParaRPr lang="en-US" sz="1200" dirty="0"/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Client</a:t>
            </a:r>
            <a:r>
              <a:rPr lang="en-US" sz="1200" baseline="-25000" dirty="0">
                <a:solidFill>
                  <a:schemeClr val="tx1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2597CD5-5DDE-E41A-9171-1FB36DD6CE72}"/>
              </a:ext>
            </a:extLst>
          </p:cNvPr>
          <p:cNvSpPr/>
          <p:nvPr/>
        </p:nvSpPr>
        <p:spPr>
          <a:xfrm>
            <a:off x="653910" y="1344096"/>
            <a:ext cx="648072" cy="36004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gRPC Stub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190DE2F-4ABD-D863-47D8-466AB7E32C99}"/>
              </a:ext>
            </a:extLst>
          </p:cNvPr>
          <p:cNvSpPr/>
          <p:nvPr/>
        </p:nvSpPr>
        <p:spPr>
          <a:xfrm>
            <a:off x="509894" y="3846184"/>
            <a:ext cx="936104" cy="813798"/>
          </a:xfrm>
          <a:prstGeom prst="rect">
            <a:avLst/>
          </a:prstGeom>
          <a:ln w="1905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200" dirty="0"/>
          </a:p>
          <a:p>
            <a:pPr algn="ctr"/>
            <a:endParaRPr lang="en-US" sz="1200" dirty="0"/>
          </a:p>
          <a:p>
            <a:pPr algn="ctr"/>
            <a:endParaRPr lang="en-US" sz="1200" dirty="0"/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Client</a:t>
            </a:r>
            <a:r>
              <a:rPr lang="en-US" sz="1200" baseline="-25000" dirty="0">
                <a:solidFill>
                  <a:schemeClr val="tx1"/>
                </a:solidFill>
              </a:rPr>
              <a:t>n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2A835A4-ECCE-4745-3A25-3AB6CBDCA93A}"/>
              </a:ext>
            </a:extLst>
          </p:cNvPr>
          <p:cNvSpPr/>
          <p:nvPr/>
        </p:nvSpPr>
        <p:spPr>
          <a:xfrm>
            <a:off x="653910" y="3928307"/>
            <a:ext cx="648072" cy="36004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gRPC Stub</a:t>
            </a:r>
          </a:p>
        </p:txBody>
      </p:sp>
      <p:sp>
        <p:nvSpPr>
          <p:cNvPr id="40" name="Arc 39">
            <a:extLst>
              <a:ext uri="{FF2B5EF4-FFF2-40B4-BE49-F238E27FC236}">
                <a16:creationId xmlns:a16="http://schemas.microsoft.com/office/drawing/2014/main" id="{E70EB320-13D3-12EE-7DE5-A84DB50E24EB}"/>
              </a:ext>
            </a:extLst>
          </p:cNvPr>
          <p:cNvSpPr/>
          <p:nvPr/>
        </p:nvSpPr>
        <p:spPr>
          <a:xfrm rot="20302801">
            <a:off x="1592536" y="1292446"/>
            <a:ext cx="905962" cy="1841322"/>
          </a:xfrm>
          <a:custGeom>
            <a:avLst/>
            <a:gdLst>
              <a:gd name="connsiteX0" fmla="*/ 1417320 w 2834640"/>
              <a:gd name="connsiteY0" fmla="*/ 0 h 2851283"/>
              <a:gd name="connsiteX1" fmla="*/ 2834640 w 2834640"/>
              <a:gd name="connsiteY1" fmla="*/ 1425642 h 2851283"/>
              <a:gd name="connsiteX2" fmla="*/ 1417320 w 2834640"/>
              <a:gd name="connsiteY2" fmla="*/ 1425642 h 2851283"/>
              <a:gd name="connsiteX3" fmla="*/ 1417320 w 2834640"/>
              <a:gd name="connsiteY3" fmla="*/ 0 h 2851283"/>
              <a:gd name="connsiteX0" fmla="*/ 1417320 w 2834640"/>
              <a:gd name="connsiteY0" fmla="*/ 0 h 2851283"/>
              <a:gd name="connsiteX1" fmla="*/ 2834640 w 2834640"/>
              <a:gd name="connsiteY1" fmla="*/ 1425642 h 2851283"/>
              <a:gd name="connsiteX0" fmla="*/ 0 w 1417320"/>
              <a:gd name="connsiteY0" fmla="*/ 0 h 1425642"/>
              <a:gd name="connsiteX1" fmla="*/ 1417320 w 1417320"/>
              <a:gd name="connsiteY1" fmla="*/ 1425642 h 1425642"/>
              <a:gd name="connsiteX2" fmla="*/ 366655 w 1417320"/>
              <a:gd name="connsiteY2" fmla="*/ 1178595 h 1425642"/>
              <a:gd name="connsiteX3" fmla="*/ 0 w 1417320"/>
              <a:gd name="connsiteY3" fmla="*/ 0 h 1425642"/>
              <a:gd name="connsiteX0" fmla="*/ 0 w 1417320"/>
              <a:gd name="connsiteY0" fmla="*/ 0 h 1425642"/>
              <a:gd name="connsiteX1" fmla="*/ 1417320 w 1417320"/>
              <a:gd name="connsiteY1" fmla="*/ 1425642 h 1425642"/>
              <a:gd name="connsiteX0" fmla="*/ 0 w 1417320"/>
              <a:gd name="connsiteY0" fmla="*/ 0 h 1425642"/>
              <a:gd name="connsiteX1" fmla="*/ 1417320 w 1417320"/>
              <a:gd name="connsiteY1" fmla="*/ 1425642 h 1425642"/>
              <a:gd name="connsiteX2" fmla="*/ 72933 w 1417320"/>
              <a:gd name="connsiteY2" fmla="*/ 1309426 h 1425642"/>
              <a:gd name="connsiteX3" fmla="*/ 0 w 1417320"/>
              <a:gd name="connsiteY3" fmla="*/ 0 h 1425642"/>
              <a:gd name="connsiteX0" fmla="*/ 0 w 1417320"/>
              <a:gd name="connsiteY0" fmla="*/ 0 h 1425642"/>
              <a:gd name="connsiteX1" fmla="*/ 1417320 w 1417320"/>
              <a:gd name="connsiteY1" fmla="*/ 1425642 h 1425642"/>
              <a:gd name="connsiteX0" fmla="*/ 0 w 1417320"/>
              <a:gd name="connsiteY0" fmla="*/ 23286 h 1448928"/>
              <a:gd name="connsiteX1" fmla="*/ 1417320 w 1417320"/>
              <a:gd name="connsiteY1" fmla="*/ 1448928 h 1448928"/>
              <a:gd name="connsiteX2" fmla="*/ 72933 w 1417320"/>
              <a:gd name="connsiteY2" fmla="*/ 1332712 h 1448928"/>
              <a:gd name="connsiteX3" fmla="*/ 0 w 1417320"/>
              <a:gd name="connsiteY3" fmla="*/ 23286 h 1448928"/>
              <a:gd name="connsiteX0" fmla="*/ 320971 w 1417320"/>
              <a:gd name="connsiteY0" fmla="*/ 0 h 1448928"/>
              <a:gd name="connsiteX1" fmla="*/ 1417320 w 1417320"/>
              <a:gd name="connsiteY1" fmla="*/ 1448928 h 1448928"/>
              <a:gd name="connsiteX0" fmla="*/ 0 w 1817198"/>
              <a:gd name="connsiteY0" fmla="*/ 23286 h 1448928"/>
              <a:gd name="connsiteX1" fmla="*/ 1417320 w 1817198"/>
              <a:gd name="connsiteY1" fmla="*/ 1448928 h 1448928"/>
              <a:gd name="connsiteX2" fmla="*/ 72933 w 1817198"/>
              <a:gd name="connsiteY2" fmla="*/ 1332712 h 1448928"/>
              <a:gd name="connsiteX3" fmla="*/ 0 w 1817198"/>
              <a:gd name="connsiteY3" fmla="*/ 23286 h 1448928"/>
              <a:gd name="connsiteX0" fmla="*/ 320971 w 1817198"/>
              <a:gd name="connsiteY0" fmla="*/ 0 h 1448928"/>
              <a:gd name="connsiteX1" fmla="*/ 1817198 w 1817198"/>
              <a:gd name="connsiteY1" fmla="*/ 1145175 h 1448928"/>
              <a:gd name="connsiteX0" fmla="*/ 0 w 1817198"/>
              <a:gd name="connsiteY0" fmla="*/ 19714 h 1445356"/>
              <a:gd name="connsiteX1" fmla="*/ 1417320 w 1817198"/>
              <a:gd name="connsiteY1" fmla="*/ 1445356 h 1445356"/>
              <a:gd name="connsiteX2" fmla="*/ 72933 w 1817198"/>
              <a:gd name="connsiteY2" fmla="*/ 1329140 h 1445356"/>
              <a:gd name="connsiteX3" fmla="*/ 0 w 1817198"/>
              <a:gd name="connsiteY3" fmla="*/ 19714 h 1445356"/>
              <a:gd name="connsiteX0" fmla="*/ 72313 w 1817198"/>
              <a:gd name="connsiteY0" fmla="*/ 0 h 1445356"/>
              <a:gd name="connsiteX1" fmla="*/ 1817198 w 1817198"/>
              <a:gd name="connsiteY1" fmla="*/ 1141603 h 1445356"/>
              <a:gd name="connsiteX0" fmla="*/ 0 w 1738996"/>
              <a:gd name="connsiteY0" fmla="*/ 19714 h 1445356"/>
              <a:gd name="connsiteX1" fmla="*/ 1417320 w 1738996"/>
              <a:gd name="connsiteY1" fmla="*/ 1445356 h 1445356"/>
              <a:gd name="connsiteX2" fmla="*/ 72933 w 1738996"/>
              <a:gd name="connsiteY2" fmla="*/ 1329140 h 1445356"/>
              <a:gd name="connsiteX3" fmla="*/ 0 w 1738996"/>
              <a:gd name="connsiteY3" fmla="*/ 19714 h 1445356"/>
              <a:gd name="connsiteX0" fmla="*/ 72313 w 1738996"/>
              <a:gd name="connsiteY0" fmla="*/ 0 h 1445356"/>
              <a:gd name="connsiteX1" fmla="*/ 1738996 w 1738996"/>
              <a:gd name="connsiteY1" fmla="*/ 1352478 h 1445356"/>
              <a:gd name="connsiteX0" fmla="*/ 0 w 1738996"/>
              <a:gd name="connsiteY0" fmla="*/ 19714 h 1445356"/>
              <a:gd name="connsiteX1" fmla="*/ 1417320 w 1738996"/>
              <a:gd name="connsiteY1" fmla="*/ 1445356 h 1445356"/>
              <a:gd name="connsiteX2" fmla="*/ 247891 w 1738996"/>
              <a:gd name="connsiteY2" fmla="*/ 1199612 h 1445356"/>
              <a:gd name="connsiteX3" fmla="*/ 0 w 1738996"/>
              <a:gd name="connsiteY3" fmla="*/ 19714 h 1445356"/>
              <a:gd name="connsiteX0" fmla="*/ 72313 w 1738996"/>
              <a:gd name="connsiteY0" fmla="*/ 0 h 1445356"/>
              <a:gd name="connsiteX1" fmla="*/ 1738996 w 1738996"/>
              <a:gd name="connsiteY1" fmla="*/ 1352478 h 1445356"/>
              <a:gd name="connsiteX0" fmla="*/ 0 w 1738996"/>
              <a:gd name="connsiteY0" fmla="*/ 19714 h 1445356"/>
              <a:gd name="connsiteX1" fmla="*/ 1417320 w 1738996"/>
              <a:gd name="connsiteY1" fmla="*/ 1445356 h 1445356"/>
              <a:gd name="connsiteX2" fmla="*/ 682835 w 1738996"/>
              <a:gd name="connsiteY2" fmla="*/ 834509 h 1445356"/>
              <a:gd name="connsiteX3" fmla="*/ 0 w 1738996"/>
              <a:gd name="connsiteY3" fmla="*/ 19714 h 1445356"/>
              <a:gd name="connsiteX0" fmla="*/ 72313 w 1738996"/>
              <a:gd name="connsiteY0" fmla="*/ 0 h 1445356"/>
              <a:gd name="connsiteX1" fmla="*/ 1738996 w 1738996"/>
              <a:gd name="connsiteY1" fmla="*/ 1352478 h 1445356"/>
              <a:gd name="connsiteX0" fmla="*/ 0 w 1738996"/>
              <a:gd name="connsiteY0" fmla="*/ 19714 h 1445356"/>
              <a:gd name="connsiteX1" fmla="*/ 1009667 w 1738996"/>
              <a:gd name="connsiteY1" fmla="*/ 578931 h 1445356"/>
              <a:gd name="connsiteX2" fmla="*/ 1417320 w 1738996"/>
              <a:gd name="connsiteY2" fmla="*/ 1445356 h 1445356"/>
              <a:gd name="connsiteX3" fmla="*/ 682835 w 1738996"/>
              <a:gd name="connsiteY3" fmla="*/ 834509 h 1445356"/>
              <a:gd name="connsiteX4" fmla="*/ 0 w 1738996"/>
              <a:gd name="connsiteY4" fmla="*/ 19714 h 1445356"/>
              <a:gd name="connsiteX0" fmla="*/ 72313 w 1738996"/>
              <a:gd name="connsiteY0" fmla="*/ 0 h 1445356"/>
              <a:gd name="connsiteX1" fmla="*/ 1738996 w 1738996"/>
              <a:gd name="connsiteY1" fmla="*/ 1352478 h 1445356"/>
              <a:gd name="connsiteX0" fmla="*/ 0 w 1738996"/>
              <a:gd name="connsiteY0" fmla="*/ 60811 h 1486453"/>
              <a:gd name="connsiteX1" fmla="*/ 1009667 w 1738996"/>
              <a:gd name="connsiteY1" fmla="*/ 620028 h 1486453"/>
              <a:gd name="connsiteX2" fmla="*/ 1417320 w 1738996"/>
              <a:gd name="connsiteY2" fmla="*/ 1486453 h 1486453"/>
              <a:gd name="connsiteX3" fmla="*/ 682835 w 1738996"/>
              <a:gd name="connsiteY3" fmla="*/ 875606 h 1486453"/>
              <a:gd name="connsiteX4" fmla="*/ 0 w 1738996"/>
              <a:gd name="connsiteY4" fmla="*/ 60811 h 1486453"/>
              <a:gd name="connsiteX0" fmla="*/ 51699 w 1738996"/>
              <a:gd name="connsiteY0" fmla="*/ 0 h 1486453"/>
              <a:gd name="connsiteX1" fmla="*/ 1738996 w 1738996"/>
              <a:gd name="connsiteY1" fmla="*/ 1393575 h 1486453"/>
              <a:gd name="connsiteX0" fmla="*/ 0 w 1738996"/>
              <a:gd name="connsiteY0" fmla="*/ 60811 h 1486453"/>
              <a:gd name="connsiteX1" fmla="*/ 956265 w 1738996"/>
              <a:gd name="connsiteY1" fmla="*/ 666030 h 1486453"/>
              <a:gd name="connsiteX2" fmla="*/ 1417320 w 1738996"/>
              <a:gd name="connsiteY2" fmla="*/ 1486453 h 1486453"/>
              <a:gd name="connsiteX3" fmla="*/ 682835 w 1738996"/>
              <a:gd name="connsiteY3" fmla="*/ 875606 h 1486453"/>
              <a:gd name="connsiteX4" fmla="*/ 0 w 1738996"/>
              <a:gd name="connsiteY4" fmla="*/ 60811 h 1486453"/>
              <a:gd name="connsiteX0" fmla="*/ 51699 w 1738996"/>
              <a:gd name="connsiteY0" fmla="*/ 0 h 1486453"/>
              <a:gd name="connsiteX1" fmla="*/ 1738996 w 1738996"/>
              <a:gd name="connsiteY1" fmla="*/ 1393575 h 1486453"/>
              <a:gd name="connsiteX0" fmla="*/ 0 w 1738996"/>
              <a:gd name="connsiteY0" fmla="*/ 60811 h 1486453"/>
              <a:gd name="connsiteX1" fmla="*/ 956265 w 1738996"/>
              <a:gd name="connsiteY1" fmla="*/ 666030 h 1486453"/>
              <a:gd name="connsiteX2" fmla="*/ 1417320 w 1738996"/>
              <a:gd name="connsiteY2" fmla="*/ 1486453 h 1486453"/>
              <a:gd name="connsiteX3" fmla="*/ 777778 w 1738996"/>
              <a:gd name="connsiteY3" fmla="*/ 819764 h 1486453"/>
              <a:gd name="connsiteX4" fmla="*/ 0 w 1738996"/>
              <a:gd name="connsiteY4" fmla="*/ 60811 h 1486453"/>
              <a:gd name="connsiteX0" fmla="*/ 51699 w 1738996"/>
              <a:gd name="connsiteY0" fmla="*/ 0 h 1486453"/>
              <a:gd name="connsiteX1" fmla="*/ 1738996 w 1738996"/>
              <a:gd name="connsiteY1" fmla="*/ 1393575 h 1486453"/>
              <a:gd name="connsiteX0" fmla="*/ 0 w 1738996"/>
              <a:gd name="connsiteY0" fmla="*/ 60811 h 1486453"/>
              <a:gd name="connsiteX1" fmla="*/ 1266359 w 1738996"/>
              <a:gd name="connsiteY1" fmla="*/ 849288 h 1486453"/>
              <a:gd name="connsiteX2" fmla="*/ 1417320 w 1738996"/>
              <a:gd name="connsiteY2" fmla="*/ 1486453 h 1486453"/>
              <a:gd name="connsiteX3" fmla="*/ 777778 w 1738996"/>
              <a:gd name="connsiteY3" fmla="*/ 819764 h 1486453"/>
              <a:gd name="connsiteX4" fmla="*/ 0 w 1738996"/>
              <a:gd name="connsiteY4" fmla="*/ 60811 h 1486453"/>
              <a:gd name="connsiteX0" fmla="*/ 51699 w 1738996"/>
              <a:gd name="connsiteY0" fmla="*/ 0 h 1486453"/>
              <a:gd name="connsiteX1" fmla="*/ 1738996 w 1738996"/>
              <a:gd name="connsiteY1" fmla="*/ 1393575 h 1486453"/>
              <a:gd name="connsiteX0" fmla="*/ 0 w 1738996"/>
              <a:gd name="connsiteY0" fmla="*/ 60811 h 1486453"/>
              <a:gd name="connsiteX1" fmla="*/ 757567 w 1738996"/>
              <a:gd name="connsiteY1" fmla="*/ 553330 h 1486453"/>
              <a:gd name="connsiteX2" fmla="*/ 1417320 w 1738996"/>
              <a:gd name="connsiteY2" fmla="*/ 1486453 h 1486453"/>
              <a:gd name="connsiteX3" fmla="*/ 777778 w 1738996"/>
              <a:gd name="connsiteY3" fmla="*/ 819764 h 1486453"/>
              <a:gd name="connsiteX4" fmla="*/ 0 w 1738996"/>
              <a:gd name="connsiteY4" fmla="*/ 60811 h 1486453"/>
              <a:gd name="connsiteX0" fmla="*/ 51699 w 1738996"/>
              <a:gd name="connsiteY0" fmla="*/ 0 h 1486453"/>
              <a:gd name="connsiteX1" fmla="*/ 1738996 w 1738996"/>
              <a:gd name="connsiteY1" fmla="*/ 1393575 h 1486453"/>
              <a:gd name="connsiteX0" fmla="*/ 0 w 1733260"/>
              <a:gd name="connsiteY0" fmla="*/ 60811 h 1486453"/>
              <a:gd name="connsiteX1" fmla="*/ 757567 w 1733260"/>
              <a:gd name="connsiteY1" fmla="*/ 553330 h 1486453"/>
              <a:gd name="connsiteX2" fmla="*/ 1417320 w 1733260"/>
              <a:gd name="connsiteY2" fmla="*/ 1486453 h 1486453"/>
              <a:gd name="connsiteX3" fmla="*/ 777778 w 1733260"/>
              <a:gd name="connsiteY3" fmla="*/ 819764 h 1486453"/>
              <a:gd name="connsiteX4" fmla="*/ 0 w 1733260"/>
              <a:gd name="connsiteY4" fmla="*/ 60811 h 1486453"/>
              <a:gd name="connsiteX0" fmla="*/ 51699 w 1733260"/>
              <a:gd name="connsiteY0" fmla="*/ 0 h 1486453"/>
              <a:gd name="connsiteX1" fmla="*/ 1733260 w 1733260"/>
              <a:gd name="connsiteY1" fmla="*/ 1355379 h 1486453"/>
              <a:gd name="connsiteX0" fmla="*/ 0 w 1733260"/>
              <a:gd name="connsiteY0" fmla="*/ 60811 h 1486453"/>
              <a:gd name="connsiteX1" fmla="*/ 757567 w 1733260"/>
              <a:gd name="connsiteY1" fmla="*/ 553330 h 1486453"/>
              <a:gd name="connsiteX2" fmla="*/ 1417320 w 1733260"/>
              <a:gd name="connsiteY2" fmla="*/ 1486453 h 1486453"/>
              <a:gd name="connsiteX3" fmla="*/ 777778 w 1733260"/>
              <a:gd name="connsiteY3" fmla="*/ 819764 h 1486453"/>
              <a:gd name="connsiteX4" fmla="*/ 0 w 1733260"/>
              <a:gd name="connsiteY4" fmla="*/ 60811 h 1486453"/>
              <a:gd name="connsiteX0" fmla="*/ 51699 w 1733260"/>
              <a:gd name="connsiteY0" fmla="*/ 0 h 1486453"/>
              <a:gd name="connsiteX1" fmla="*/ 1733260 w 1733260"/>
              <a:gd name="connsiteY1" fmla="*/ 1355379 h 1486453"/>
              <a:gd name="connsiteX0" fmla="*/ 0 w 1733260"/>
              <a:gd name="connsiteY0" fmla="*/ 60811 h 1486453"/>
              <a:gd name="connsiteX1" fmla="*/ 757567 w 1733260"/>
              <a:gd name="connsiteY1" fmla="*/ 553330 h 1486453"/>
              <a:gd name="connsiteX2" fmla="*/ 1417320 w 1733260"/>
              <a:gd name="connsiteY2" fmla="*/ 1486453 h 1486453"/>
              <a:gd name="connsiteX3" fmla="*/ 777778 w 1733260"/>
              <a:gd name="connsiteY3" fmla="*/ 819764 h 1486453"/>
              <a:gd name="connsiteX4" fmla="*/ 0 w 1733260"/>
              <a:gd name="connsiteY4" fmla="*/ 60811 h 1486453"/>
              <a:gd name="connsiteX0" fmla="*/ 51699 w 1733260"/>
              <a:gd name="connsiteY0" fmla="*/ 0 h 1486453"/>
              <a:gd name="connsiteX1" fmla="*/ 1733260 w 1733260"/>
              <a:gd name="connsiteY1" fmla="*/ 1355379 h 1486453"/>
              <a:gd name="connsiteX0" fmla="*/ 0 w 1733260"/>
              <a:gd name="connsiteY0" fmla="*/ 60811 h 1486453"/>
              <a:gd name="connsiteX1" fmla="*/ 757567 w 1733260"/>
              <a:gd name="connsiteY1" fmla="*/ 553330 h 1486453"/>
              <a:gd name="connsiteX2" fmla="*/ 1417320 w 1733260"/>
              <a:gd name="connsiteY2" fmla="*/ 1486453 h 1486453"/>
              <a:gd name="connsiteX3" fmla="*/ 777778 w 1733260"/>
              <a:gd name="connsiteY3" fmla="*/ 819764 h 1486453"/>
              <a:gd name="connsiteX4" fmla="*/ 0 w 1733260"/>
              <a:gd name="connsiteY4" fmla="*/ 60811 h 1486453"/>
              <a:gd name="connsiteX0" fmla="*/ 51699 w 1733260"/>
              <a:gd name="connsiteY0" fmla="*/ 0 h 1486453"/>
              <a:gd name="connsiteX1" fmla="*/ 1733260 w 1733260"/>
              <a:gd name="connsiteY1" fmla="*/ 1355379 h 1486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33260" h="1486453" stroke="0" extrusionOk="0">
                <a:moveTo>
                  <a:pt x="0" y="60811"/>
                </a:moveTo>
                <a:cubicBezTo>
                  <a:pt x="62785" y="6281"/>
                  <a:pt x="521347" y="315723"/>
                  <a:pt x="757567" y="553330"/>
                </a:cubicBezTo>
                <a:cubicBezTo>
                  <a:pt x="993787" y="790937"/>
                  <a:pt x="1480105" y="1431923"/>
                  <a:pt x="1417320" y="1486453"/>
                </a:cubicBezTo>
                <a:lnTo>
                  <a:pt x="777778" y="819764"/>
                </a:lnTo>
                <a:cubicBezTo>
                  <a:pt x="777778" y="344550"/>
                  <a:pt x="0" y="536025"/>
                  <a:pt x="0" y="60811"/>
                </a:cubicBezTo>
                <a:close/>
              </a:path>
              <a:path w="1733260" h="1486453" fill="none">
                <a:moveTo>
                  <a:pt x="51699" y="0"/>
                </a:moveTo>
                <a:cubicBezTo>
                  <a:pt x="824849" y="214014"/>
                  <a:pt x="1390512" y="639132"/>
                  <a:pt x="1733260" y="1355379"/>
                </a:cubicBezTo>
              </a:path>
            </a:pathLst>
          </a:custGeom>
          <a:ln w="19050">
            <a:solidFill>
              <a:schemeClr val="accent1">
                <a:lumMod val="50000"/>
              </a:schemeClr>
            </a:solidFill>
            <a:headEnd type="none" w="med" len="med"/>
            <a:tailEnd type="arrow" w="med" len="med"/>
          </a:ln>
          <a:effectLst/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F77F7316-63AD-97A1-08CF-724AF92F55CC}"/>
              </a:ext>
            </a:extLst>
          </p:cNvPr>
          <p:cNvSpPr/>
          <p:nvPr/>
        </p:nvSpPr>
        <p:spPr>
          <a:xfrm>
            <a:off x="2460551" y="2750309"/>
            <a:ext cx="775058" cy="540723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gRPC</a:t>
            </a:r>
          </a:p>
          <a:p>
            <a:pPr algn="ctr"/>
            <a:r>
              <a:rPr lang="en-US" sz="1200" dirty="0"/>
              <a:t>Service</a:t>
            </a:r>
          </a:p>
        </p:txBody>
      </p:sp>
      <p:sp>
        <p:nvSpPr>
          <p:cNvPr id="45" name="Arc 39">
            <a:extLst>
              <a:ext uri="{FF2B5EF4-FFF2-40B4-BE49-F238E27FC236}">
                <a16:creationId xmlns:a16="http://schemas.microsoft.com/office/drawing/2014/main" id="{882771DF-51AE-83D4-D6D4-82C1889383BF}"/>
              </a:ext>
            </a:extLst>
          </p:cNvPr>
          <p:cNvSpPr/>
          <p:nvPr/>
        </p:nvSpPr>
        <p:spPr>
          <a:xfrm rot="9560362">
            <a:off x="1442468" y="1374585"/>
            <a:ext cx="920592" cy="1631304"/>
          </a:xfrm>
          <a:custGeom>
            <a:avLst/>
            <a:gdLst>
              <a:gd name="connsiteX0" fmla="*/ 1417320 w 2834640"/>
              <a:gd name="connsiteY0" fmla="*/ 0 h 2851283"/>
              <a:gd name="connsiteX1" fmla="*/ 2834640 w 2834640"/>
              <a:gd name="connsiteY1" fmla="*/ 1425642 h 2851283"/>
              <a:gd name="connsiteX2" fmla="*/ 1417320 w 2834640"/>
              <a:gd name="connsiteY2" fmla="*/ 1425642 h 2851283"/>
              <a:gd name="connsiteX3" fmla="*/ 1417320 w 2834640"/>
              <a:gd name="connsiteY3" fmla="*/ 0 h 2851283"/>
              <a:gd name="connsiteX0" fmla="*/ 1417320 w 2834640"/>
              <a:gd name="connsiteY0" fmla="*/ 0 h 2851283"/>
              <a:gd name="connsiteX1" fmla="*/ 2834640 w 2834640"/>
              <a:gd name="connsiteY1" fmla="*/ 1425642 h 2851283"/>
              <a:gd name="connsiteX0" fmla="*/ 0 w 1417320"/>
              <a:gd name="connsiteY0" fmla="*/ 0 h 1425642"/>
              <a:gd name="connsiteX1" fmla="*/ 1417320 w 1417320"/>
              <a:gd name="connsiteY1" fmla="*/ 1425642 h 1425642"/>
              <a:gd name="connsiteX2" fmla="*/ 366655 w 1417320"/>
              <a:gd name="connsiteY2" fmla="*/ 1178595 h 1425642"/>
              <a:gd name="connsiteX3" fmla="*/ 0 w 1417320"/>
              <a:gd name="connsiteY3" fmla="*/ 0 h 1425642"/>
              <a:gd name="connsiteX0" fmla="*/ 0 w 1417320"/>
              <a:gd name="connsiteY0" fmla="*/ 0 h 1425642"/>
              <a:gd name="connsiteX1" fmla="*/ 1417320 w 1417320"/>
              <a:gd name="connsiteY1" fmla="*/ 1425642 h 1425642"/>
              <a:gd name="connsiteX0" fmla="*/ 0 w 1417320"/>
              <a:gd name="connsiteY0" fmla="*/ 0 h 1425642"/>
              <a:gd name="connsiteX1" fmla="*/ 1417320 w 1417320"/>
              <a:gd name="connsiteY1" fmla="*/ 1425642 h 1425642"/>
              <a:gd name="connsiteX2" fmla="*/ 72933 w 1417320"/>
              <a:gd name="connsiteY2" fmla="*/ 1309426 h 1425642"/>
              <a:gd name="connsiteX3" fmla="*/ 0 w 1417320"/>
              <a:gd name="connsiteY3" fmla="*/ 0 h 1425642"/>
              <a:gd name="connsiteX0" fmla="*/ 0 w 1417320"/>
              <a:gd name="connsiteY0" fmla="*/ 0 h 1425642"/>
              <a:gd name="connsiteX1" fmla="*/ 1417320 w 1417320"/>
              <a:gd name="connsiteY1" fmla="*/ 1425642 h 1425642"/>
              <a:gd name="connsiteX0" fmla="*/ 0 w 1417320"/>
              <a:gd name="connsiteY0" fmla="*/ 23286 h 1448928"/>
              <a:gd name="connsiteX1" fmla="*/ 1417320 w 1417320"/>
              <a:gd name="connsiteY1" fmla="*/ 1448928 h 1448928"/>
              <a:gd name="connsiteX2" fmla="*/ 72933 w 1417320"/>
              <a:gd name="connsiteY2" fmla="*/ 1332712 h 1448928"/>
              <a:gd name="connsiteX3" fmla="*/ 0 w 1417320"/>
              <a:gd name="connsiteY3" fmla="*/ 23286 h 1448928"/>
              <a:gd name="connsiteX0" fmla="*/ 320971 w 1417320"/>
              <a:gd name="connsiteY0" fmla="*/ 0 h 1448928"/>
              <a:gd name="connsiteX1" fmla="*/ 1417320 w 1417320"/>
              <a:gd name="connsiteY1" fmla="*/ 1448928 h 1448928"/>
              <a:gd name="connsiteX0" fmla="*/ 0 w 1817198"/>
              <a:gd name="connsiteY0" fmla="*/ 23286 h 1448928"/>
              <a:gd name="connsiteX1" fmla="*/ 1417320 w 1817198"/>
              <a:gd name="connsiteY1" fmla="*/ 1448928 h 1448928"/>
              <a:gd name="connsiteX2" fmla="*/ 72933 w 1817198"/>
              <a:gd name="connsiteY2" fmla="*/ 1332712 h 1448928"/>
              <a:gd name="connsiteX3" fmla="*/ 0 w 1817198"/>
              <a:gd name="connsiteY3" fmla="*/ 23286 h 1448928"/>
              <a:gd name="connsiteX0" fmla="*/ 320971 w 1817198"/>
              <a:gd name="connsiteY0" fmla="*/ 0 h 1448928"/>
              <a:gd name="connsiteX1" fmla="*/ 1817198 w 1817198"/>
              <a:gd name="connsiteY1" fmla="*/ 1145175 h 1448928"/>
              <a:gd name="connsiteX0" fmla="*/ 0 w 1817198"/>
              <a:gd name="connsiteY0" fmla="*/ 19714 h 1445356"/>
              <a:gd name="connsiteX1" fmla="*/ 1417320 w 1817198"/>
              <a:gd name="connsiteY1" fmla="*/ 1445356 h 1445356"/>
              <a:gd name="connsiteX2" fmla="*/ 72933 w 1817198"/>
              <a:gd name="connsiteY2" fmla="*/ 1329140 h 1445356"/>
              <a:gd name="connsiteX3" fmla="*/ 0 w 1817198"/>
              <a:gd name="connsiteY3" fmla="*/ 19714 h 1445356"/>
              <a:gd name="connsiteX0" fmla="*/ 72313 w 1817198"/>
              <a:gd name="connsiteY0" fmla="*/ 0 h 1445356"/>
              <a:gd name="connsiteX1" fmla="*/ 1817198 w 1817198"/>
              <a:gd name="connsiteY1" fmla="*/ 1141603 h 1445356"/>
              <a:gd name="connsiteX0" fmla="*/ 0 w 1738996"/>
              <a:gd name="connsiteY0" fmla="*/ 19714 h 1445356"/>
              <a:gd name="connsiteX1" fmla="*/ 1417320 w 1738996"/>
              <a:gd name="connsiteY1" fmla="*/ 1445356 h 1445356"/>
              <a:gd name="connsiteX2" fmla="*/ 72933 w 1738996"/>
              <a:gd name="connsiteY2" fmla="*/ 1329140 h 1445356"/>
              <a:gd name="connsiteX3" fmla="*/ 0 w 1738996"/>
              <a:gd name="connsiteY3" fmla="*/ 19714 h 1445356"/>
              <a:gd name="connsiteX0" fmla="*/ 72313 w 1738996"/>
              <a:gd name="connsiteY0" fmla="*/ 0 h 1445356"/>
              <a:gd name="connsiteX1" fmla="*/ 1738996 w 1738996"/>
              <a:gd name="connsiteY1" fmla="*/ 1352478 h 1445356"/>
              <a:gd name="connsiteX0" fmla="*/ 0 w 1738996"/>
              <a:gd name="connsiteY0" fmla="*/ 19714 h 1445356"/>
              <a:gd name="connsiteX1" fmla="*/ 1417320 w 1738996"/>
              <a:gd name="connsiteY1" fmla="*/ 1445356 h 1445356"/>
              <a:gd name="connsiteX2" fmla="*/ 247891 w 1738996"/>
              <a:gd name="connsiteY2" fmla="*/ 1199612 h 1445356"/>
              <a:gd name="connsiteX3" fmla="*/ 0 w 1738996"/>
              <a:gd name="connsiteY3" fmla="*/ 19714 h 1445356"/>
              <a:gd name="connsiteX0" fmla="*/ 72313 w 1738996"/>
              <a:gd name="connsiteY0" fmla="*/ 0 h 1445356"/>
              <a:gd name="connsiteX1" fmla="*/ 1738996 w 1738996"/>
              <a:gd name="connsiteY1" fmla="*/ 1352478 h 1445356"/>
              <a:gd name="connsiteX0" fmla="*/ 0 w 1738996"/>
              <a:gd name="connsiteY0" fmla="*/ 19714 h 1445356"/>
              <a:gd name="connsiteX1" fmla="*/ 1417320 w 1738996"/>
              <a:gd name="connsiteY1" fmla="*/ 1445356 h 1445356"/>
              <a:gd name="connsiteX2" fmla="*/ 682835 w 1738996"/>
              <a:gd name="connsiteY2" fmla="*/ 834509 h 1445356"/>
              <a:gd name="connsiteX3" fmla="*/ 0 w 1738996"/>
              <a:gd name="connsiteY3" fmla="*/ 19714 h 1445356"/>
              <a:gd name="connsiteX0" fmla="*/ 72313 w 1738996"/>
              <a:gd name="connsiteY0" fmla="*/ 0 h 1445356"/>
              <a:gd name="connsiteX1" fmla="*/ 1738996 w 1738996"/>
              <a:gd name="connsiteY1" fmla="*/ 1352478 h 1445356"/>
              <a:gd name="connsiteX0" fmla="*/ 0 w 1738996"/>
              <a:gd name="connsiteY0" fmla="*/ 19714 h 1445356"/>
              <a:gd name="connsiteX1" fmla="*/ 1009667 w 1738996"/>
              <a:gd name="connsiteY1" fmla="*/ 578931 h 1445356"/>
              <a:gd name="connsiteX2" fmla="*/ 1417320 w 1738996"/>
              <a:gd name="connsiteY2" fmla="*/ 1445356 h 1445356"/>
              <a:gd name="connsiteX3" fmla="*/ 682835 w 1738996"/>
              <a:gd name="connsiteY3" fmla="*/ 834509 h 1445356"/>
              <a:gd name="connsiteX4" fmla="*/ 0 w 1738996"/>
              <a:gd name="connsiteY4" fmla="*/ 19714 h 1445356"/>
              <a:gd name="connsiteX0" fmla="*/ 72313 w 1738996"/>
              <a:gd name="connsiteY0" fmla="*/ 0 h 1445356"/>
              <a:gd name="connsiteX1" fmla="*/ 1738996 w 1738996"/>
              <a:gd name="connsiteY1" fmla="*/ 1352478 h 1445356"/>
              <a:gd name="connsiteX0" fmla="*/ 0 w 1738996"/>
              <a:gd name="connsiteY0" fmla="*/ 60811 h 1486453"/>
              <a:gd name="connsiteX1" fmla="*/ 1009667 w 1738996"/>
              <a:gd name="connsiteY1" fmla="*/ 620028 h 1486453"/>
              <a:gd name="connsiteX2" fmla="*/ 1417320 w 1738996"/>
              <a:gd name="connsiteY2" fmla="*/ 1486453 h 1486453"/>
              <a:gd name="connsiteX3" fmla="*/ 682835 w 1738996"/>
              <a:gd name="connsiteY3" fmla="*/ 875606 h 1486453"/>
              <a:gd name="connsiteX4" fmla="*/ 0 w 1738996"/>
              <a:gd name="connsiteY4" fmla="*/ 60811 h 1486453"/>
              <a:gd name="connsiteX0" fmla="*/ 51699 w 1738996"/>
              <a:gd name="connsiteY0" fmla="*/ 0 h 1486453"/>
              <a:gd name="connsiteX1" fmla="*/ 1738996 w 1738996"/>
              <a:gd name="connsiteY1" fmla="*/ 1393575 h 1486453"/>
              <a:gd name="connsiteX0" fmla="*/ 0 w 1738996"/>
              <a:gd name="connsiteY0" fmla="*/ 60811 h 1486453"/>
              <a:gd name="connsiteX1" fmla="*/ 816806 w 1738996"/>
              <a:gd name="connsiteY1" fmla="*/ 788751 h 1486453"/>
              <a:gd name="connsiteX2" fmla="*/ 1417320 w 1738996"/>
              <a:gd name="connsiteY2" fmla="*/ 1486453 h 1486453"/>
              <a:gd name="connsiteX3" fmla="*/ 682835 w 1738996"/>
              <a:gd name="connsiteY3" fmla="*/ 875606 h 1486453"/>
              <a:gd name="connsiteX4" fmla="*/ 0 w 1738996"/>
              <a:gd name="connsiteY4" fmla="*/ 60811 h 1486453"/>
              <a:gd name="connsiteX0" fmla="*/ 51699 w 1738996"/>
              <a:gd name="connsiteY0" fmla="*/ 0 h 1486453"/>
              <a:gd name="connsiteX1" fmla="*/ 1738996 w 1738996"/>
              <a:gd name="connsiteY1" fmla="*/ 1393575 h 1486453"/>
              <a:gd name="connsiteX0" fmla="*/ 0 w 1654730"/>
              <a:gd name="connsiteY0" fmla="*/ 60811 h 1486453"/>
              <a:gd name="connsiteX1" fmla="*/ 816806 w 1654730"/>
              <a:gd name="connsiteY1" fmla="*/ 788751 h 1486453"/>
              <a:gd name="connsiteX2" fmla="*/ 1417320 w 1654730"/>
              <a:gd name="connsiteY2" fmla="*/ 1486453 h 1486453"/>
              <a:gd name="connsiteX3" fmla="*/ 682835 w 1654730"/>
              <a:gd name="connsiteY3" fmla="*/ 875606 h 1486453"/>
              <a:gd name="connsiteX4" fmla="*/ 0 w 1654730"/>
              <a:gd name="connsiteY4" fmla="*/ 60811 h 1486453"/>
              <a:gd name="connsiteX0" fmla="*/ 51699 w 1654730"/>
              <a:gd name="connsiteY0" fmla="*/ 0 h 1486453"/>
              <a:gd name="connsiteX1" fmla="*/ 1654730 w 1654730"/>
              <a:gd name="connsiteY1" fmla="*/ 1355064 h 1486453"/>
              <a:gd name="connsiteX0" fmla="*/ 0 w 1714105"/>
              <a:gd name="connsiteY0" fmla="*/ 60811 h 1486453"/>
              <a:gd name="connsiteX1" fmla="*/ 816806 w 1714105"/>
              <a:gd name="connsiteY1" fmla="*/ 788751 h 1486453"/>
              <a:gd name="connsiteX2" fmla="*/ 1417320 w 1714105"/>
              <a:gd name="connsiteY2" fmla="*/ 1486453 h 1486453"/>
              <a:gd name="connsiteX3" fmla="*/ 682835 w 1714105"/>
              <a:gd name="connsiteY3" fmla="*/ 875606 h 1486453"/>
              <a:gd name="connsiteX4" fmla="*/ 0 w 1714105"/>
              <a:gd name="connsiteY4" fmla="*/ 60811 h 1486453"/>
              <a:gd name="connsiteX0" fmla="*/ 51699 w 1714105"/>
              <a:gd name="connsiteY0" fmla="*/ 0 h 1486453"/>
              <a:gd name="connsiteX1" fmla="*/ 1714105 w 1714105"/>
              <a:gd name="connsiteY1" fmla="*/ 1373684 h 1486453"/>
              <a:gd name="connsiteX0" fmla="*/ 0 w 1714105"/>
              <a:gd name="connsiteY0" fmla="*/ 60811 h 1486453"/>
              <a:gd name="connsiteX1" fmla="*/ 816806 w 1714105"/>
              <a:gd name="connsiteY1" fmla="*/ 788751 h 1486453"/>
              <a:gd name="connsiteX2" fmla="*/ 1417320 w 1714105"/>
              <a:gd name="connsiteY2" fmla="*/ 1486453 h 1486453"/>
              <a:gd name="connsiteX3" fmla="*/ 682835 w 1714105"/>
              <a:gd name="connsiteY3" fmla="*/ 875606 h 1486453"/>
              <a:gd name="connsiteX4" fmla="*/ 0 w 1714105"/>
              <a:gd name="connsiteY4" fmla="*/ 60811 h 1486453"/>
              <a:gd name="connsiteX0" fmla="*/ 51699 w 1714105"/>
              <a:gd name="connsiteY0" fmla="*/ 0 h 1486453"/>
              <a:gd name="connsiteX1" fmla="*/ 1714105 w 1714105"/>
              <a:gd name="connsiteY1" fmla="*/ 1373684 h 1486453"/>
              <a:gd name="connsiteX0" fmla="*/ 0 w 1714105"/>
              <a:gd name="connsiteY0" fmla="*/ 60811 h 1486453"/>
              <a:gd name="connsiteX1" fmla="*/ 816806 w 1714105"/>
              <a:gd name="connsiteY1" fmla="*/ 788751 h 1486453"/>
              <a:gd name="connsiteX2" fmla="*/ 1417320 w 1714105"/>
              <a:gd name="connsiteY2" fmla="*/ 1486453 h 1486453"/>
              <a:gd name="connsiteX3" fmla="*/ 682835 w 1714105"/>
              <a:gd name="connsiteY3" fmla="*/ 875606 h 1486453"/>
              <a:gd name="connsiteX4" fmla="*/ 0 w 1714105"/>
              <a:gd name="connsiteY4" fmla="*/ 60811 h 1486453"/>
              <a:gd name="connsiteX0" fmla="*/ 51699 w 1714105"/>
              <a:gd name="connsiteY0" fmla="*/ 0 h 1486453"/>
              <a:gd name="connsiteX1" fmla="*/ 1714105 w 1714105"/>
              <a:gd name="connsiteY1" fmla="*/ 1373684 h 1486453"/>
              <a:gd name="connsiteX0" fmla="*/ 0 w 1714105"/>
              <a:gd name="connsiteY0" fmla="*/ 60811 h 1486453"/>
              <a:gd name="connsiteX1" fmla="*/ 816806 w 1714105"/>
              <a:gd name="connsiteY1" fmla="*/ 788751 h 1486453"/>
              <a:gd name="connsiteX2" fmla="*/ 1417320 w 1714105"/>
              <a:gd name="connsiteY2" fmla="*/ 1486453 h 1486453"/>
              <a:gd name="connsiteX3" fmla="*/ 682835 w 1714105"/>
              <a:gd name="connsiteY3" fmla="*/ 875606 h 1486453"/>
              <a:gd name="connsiteX4" fmla="*/ 0 w 1714105"/>
              <a:gd name="connsiteY4" fmla="*/ 60811 h 1486453"/>
              <a:gd name="connsiteX0" fmla="*/ 51699 w 1714105"/>
              <a:gd name="connsiteY0" fmla="*/ 0 h 1486453"/>
              <a:gd name="connsiteX1" fmla="*/ 1714105 w 1714105"/>
              <a:gd name="connsiteY1" fmla="*/ 1373684 h 1486453"/>
              <a:gd name="connsiteX0" fmla="*/ 0 w 1703953"/>
              <a:gd name="connsiteY0" fmla="*/ 27736 h 1486453"/>
              <a:gd name="connsiteX1" fmla="*/ 806654 w 1703953"/>
              <a:gd name="connsiteY1" fmla="*/ 788751 h 1486453"/>
              <a:gd name="connsiteX2" fmla="*/ 1407168 w 1703953"/>
              <a:gd name="connsiteY2" fmla="*/ 1486453 h 1486453"/>
              <a:gd name="connsiteX3" fmla="*/ 672683 w 1703953"/>
              <a:gd name="connsiteY3" fmla="*/ 875606 h 1486453"/>
              <a:gd name="connsiteX4" fmla="*/ 0 w 1703953"/>
              <a:gd name="connsiteY4" fmla="*/ 27736 h 1486453"/>
              <a:gd name="connsiteX0" fmla="*/ 41547 w 1703953"/>
              <a:gd name="connsiteY0" fmla="*/ 0 h 1486453"/>
              <a:gd name="connsiteX1" fmla="*/ 1703953 w 1703953"/>
              <a:gd name="connsiteY1" fmla="*/ 1373684 h 1486453"/>
              <a:gd name="connsiteX0" fmla="*/ 0 w 1703953"/>
              <a:gd name="connsiteY0" fmla="*/ 3609 h 1462326"/>
              <a:gd name="connsiteX1" fmla="*/ 806654 w 1703953"/>
              <a:gd name="connsiteY1" fmla="*/ 764624 h 1462326"/>
              <a:gd name="connsiteX2" fmla="*/ 1407168 w 1703953"/>
              <a:gd name="connsiteY2" fmla="*/ 1462326 h 1462326"/>
              <a:gd name="connsiteX3" fmla="*/ 672683 w 1703953"/>
              <a:gd name="connsiteY3" fmla="*/ 851479 h 1462326"/>
              <a:gd name="connsiteX4" fmla="*/ 0 w 1703953"/>
              <a:gd name="connsiteY4" fmla="*/ 3609 h 1462326"/>
              <a:gd name="connsiteX0" fmla="*/ 47802 w 1703953"/>
              <a:gd name="connsiteY0" fmla="*/ 26178 h 1462326"/>
              <a:gd name="connsiteX1" fmla="*/ 1703953 w 1703953"/>
              <a:gd name="connsiteY1" fmla="*/ 1349557 h 1462326"/>
              <a:gd name="connsiteX0" fmla="*/ 0 w 1703953"/>
              <a:gd name="connsiteY0" fmla="*/ 3609 h 1462326"/>
              <a:gd name="connsiteX1" fmla="*/ 806654 w 1703953"/>
              <a:gd name="connsiteY1" fmla="*/ 764624 h 1462326"/>
              <a:gd name="connsiteX2" fmla="*/ 1407168 w 1703953"/>
              <a:gd name="connsiteY2" fmla="*/ 1462326 h 1462326"/>
              <a:gd name="connsiteX3" fmla="*/ 672683 w 1703953"/>
              <a:gd name="connsiteY3" fmla="*/ 851479 h 1462326"/>
              <a:gd name="connsiteX4" fmla="*/ 0 w 1703953"/>
              <a:gd name="connsiteY4" fmla="*/ 3609 h 1462326"/>
              <a:gd name="connsiteX0" fmla="*/ 47802 w 1703953"/>
              <a:gd name="connsiteY0" fmla="*/ 26178 h 1462326"/>
              <a:gd name="connsiteX1" fmla="*/ 1703953 w 1703953"/>
              <a:gd name="connsiteY1" fmla="*/ 1349557 h 1462326"/>
              <a:gd name="connsiteX0" fmla="*/ 0 w 1703953"/>
              <a:gd name="connsiteY0" fmla="*/ 3609 h 1462326"/>
              <a:gd name="connsiteX1" fmla="*/ 806654 w 1703953"/>
              <a:gd name="connsiteY1" fmla="*/ 764624 h 1462326"/>
              <a:gd name="connsiteX2" fmla="*/ 1407168 w 1703953"/>
              <a:gd name="connsiteY2" fmla="*/ 1462326 h 1462326"/>
              <a:gd name="connsiteX3" fmla="*/ 672683 w 1703953"/>
              <a:gd name="connsiteY3" fmla="*/ 851479 h 1462326"/>
              <a:gd name="connsiteX4" fmla="*/ 0 w 1703953"/>
              <a:gd name="connsiteY4" fmla="*/ 3609 h 1462326"/>
              <a:gd name="connsiteX0" fmla="*/ 47802 w 1703953"/>
              <a:gd name="connsiteY0" fmla="*/ 26178 h 1462326"/>
              <a:gd name="connsiteX1" fmla="*/ 1703953 w 1703953"/>
              <a:gd name="connsiteY1" fmla="*/ 1349557 h 1462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03953" h="1462326" stroke="0" extrusionOk="0">
                <a:moveTo>
                  <a:pt x="0" y="3609"/>
                </a:moveTo>
                <a:cubicBezTo>
                  <a:pt x="62785" y="-50921"/>
                  <a:pt x="570434" y="527017"/>
                  <a:pt x="806654" y="764624"/>
                </a:cubicBezTo>
                <a:cubicBezTo>
                  <a:pt x="1042874" y="1002231"/>
                  <a:pt x="1469953" y="1407796"/>
                  <a:pt x="1407168" y="1462326"/>
                </a:cubicBezTo>
                <a:lnTo>
                  <a:pt x="672683" y="851479"/>
                </a:lnTo>
                <a:cubicBezTo>
                  <a:pt x="672683" y="376265"/>
                  <a:pt x="0" y="478823"/>
                  <a:pt x="0" y="3609"/>
                </a:cubicBezTo>
                <a:close/>
              </a:path>
              <a:path w="1703953" h="1462326" fill="none">
                <a:moveTo>
                  <a:pt x="47802" y="26178"/>
                </a:moveTo>
                <a:cubicBezTo>
                  <a:pt x="808098" y="353509"/>
                  <a:pt x="1342058" y="847542"/>
                  <a:pt x="1703953" y="1349557"/>
                </a:cubicBezTo>
              </a:path>
            </a:pathLst>
          </a:custGeom>
          <a:ln w="19050">
            <a:solidFill>
              <a:schemeClr val="accent1">
                <a:lumMod val="50000"/>
              </a:schemeClr>
            </a:solidFill>
            <a:headEnd type="none" w="med" len="med"/>
            <a:tailEnd type="arrow" w="med" len="med"/>
          </a:ln>
          <a:effectLst/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4" name="Arc 39">
            <a:extLst>
              <a:ext uri="{FF2B5EF4-FFF2-40B4-BE49-F238E27FC236}">
                <a16:creationId xmlns:a16="http://schemas.microsoft.com/office/drawing/2014/main" id="{7EF60CBE-9A9E-CA93-FDC9-5FE628174EBE}"/>
              </a:ext>
            </a:extLst>
          </p:cNvPr>
          <p:cNvSpPr/>
          <p:nvPr/>
        </p:nvSpPr>
        <p:spPr>
          <a:xfrm rot="6957562">
            <a:off x="1257354" y="3224264"/>
            <a:ext cx="1266562" cy="809943"/>
          </a:xfrm>
          <a:custGeom>
            <a:avLst/>
            <a:gdLst>
              <a:gd name="connsiteX0" fmla="*/ 1417320 w 2834640"/>
              <a:gd name="connsiteY0" fmla="*/ 0 h 2851283"/>
              <a:gd name="connsiteX1" fmla="*/ 2834640 w 2834640"/>
              <a:gd name="connsiteY1" fmla="*/ 1425642 h 2851283"/>
              <a:gd name="connsiteX2" fmla="*/ 1417320 w 2834640"/>
              <a:gd name="connsiteY2" fmla="*/ 1425642 h 2851283"/>
              <a:gd name="connsiteX3" fmla="*/ 1417320 w 2834640"/>
              <a:gd name="connsiteY3" fmla="*/ 0 h 2851283"/>
              <a:gd name="connsiteX0" fmla="*/ 1417320 w 2834640"/>
              <a:gd name="connsiteY0" fmla="*/ 0 h 2851283"/>
              <a:gd name="connsiteX1" fmla="*/ 2834640 w 2834640"/>
              <a:gd name="connsiteY1" fmla="*/ 1425642 h 2851283"/>
              <a:gd name="connsiteX0" fmla="*/ 0 w 1417320"/>
              <a:gd name="connsiteY0" fmla="*/ 0 h 1425642"/>
              <a:gd name="connsiteX1" fmla="*/ 1417320 w 1417320"/>
              <a:gd name="connsiteY1" fmla="*/ 1425642 h 1425642"/>
              <a:gd name="connsiteX2" fmla="*/ 366655 w 1417320"/>
              <a:gd name="connsiteY2" fmla="*/ 1178595 h 1425642"/>
              <a:gd name="connsiteX3" fmla="*/ 0 w 1417320"/>
              <a:gd name="connsiteY3" fmla="*/ 0 h 1425642"/>
              <a:gd name="connsiteX0" fmla="*/ 0 w 1417320"/>
              <a:gd name="connsiteY0" fmla="*/ 0 h 1425642"/>
              <a:gd name="connsiteX1" fmla="*/ 1417320 w 1417320"/>
              <a:gd name="connsiteY1" fmla="*/ 1425642 h 1425642"/>
              <a:gd name="connsiteX0" fmla="*/ 0 w 1417320"/>
              <a:gd name="connsiteY0" fmla="*/ 0 h 1425642"/>
              <a:gd name="connsiteX1" fmla="*/ 1417320 w 1417320"/>
              <a:gd name="connsiteY1" fmla="*/ 1425642 h 1425642"/>
              <a:gd name="connsiteX2" fmla="*/ 72933 w 1417320"/>
              <a:gd name="connsiteY2" fmla="*/ 1309426 h 1425642"/>
              <a:gd name="connsiteX3" fmla="*/ 0 w 1417320"/>
              <a:gd name="connsiteY3" fmla="*/ 0 h 1425642"/>
              <a:gd name="connsiteX0" fmla="*/ 0 w 1417320"/>
              <a:gd name="connsiteY0" fmla="*/ 0 h 1425642"/>
              <a:gd name="connsiteX1" fmla="*/ 1417320 w 1417320"/>
              <a:gd name="connsiteY1" fmla="*/ 1425642 h 1425642"/>
              <a:gd name="connsiteX0" fmla="*/ 0 w 1417320"/>
              <a:gd name="connsiteY0" fmla="*/ 23286 h 1448928"/>
              <a:gd name="connsiteX1" fmla="*/ 1417320 w 1417320"/>
              <a:gd name="connsiteY1" fmla="*/ 1448928 h 1448928"/>
              <a:gd name="connsiteX2" fmla="*/ 72933 w 1417320"/>
              <a:gd name="connsiteY2" fmla="*/ 1332712 h 1448928"/>
              <a:gd name="connsiteX3" fmla="*/ 0 w 1417320"/>
              <a:gd name="connsiteY3" fmla="*/ 23286 h 1448928"/>
              <a:gd name="connsiteX0" fmla="*/ 320971 w 1417320"/>
              <a:gd name="connsiteY0" fmla="*/ 0 h 1448928"/>
              <a:gd name="connsiteX1" fmla="*/ 1417320 w 1417320"/>
              <a:gd name="connsiteY1" fmla="*/ 1448928 h 1448928"/>
              <a:gd name="connsiteX0" fmla="*/ 0 w 1817198"/>
              <a:gd name="connsiteY0" fmla="*/ 23286 h 1448928"/>
              <a:gd name="connsiteX1" fmla="*/ 1417320 w 1817198"/>
              <a:gd name="connsiteY1" fmla="*/ 1448928 h 1448928"/>
              <a:gd name="connsiteX2" fmla="*/ 72933 w 1817198"/>
              <a:gd name="connsiteY2" fmla="*/ 1332712 h 1448928"/>
              <a:gd name="connsiteX3" fmla="*/ 0 w 1817198"/>
              <a:gd name="connsiteY3" fmla="*/ 23286 h 1448928"/>
              <a:gd name="connsiteX0" fmla="*/ 320971 w 1817198"/>
              <a:gd name="connsiteY0" fmla="*/ 0 h 1448928"/>
              <a:gd name="connsiteX1" fmla="*/ 1817198 w 1817198"/>
              <a:gd name="connsiteY1" fmla="*/ 1145175 h 1448928"/>
              <a:gd name="connsiteX0" fmla="*/ 0 w 1817198"/>
              <a:gd name="connsiteY0" fmla="*/ 19714 h 1445356"/>
              <a:gd name="connsiteX1" fmla="*/ 1417320 w 1817198"/>
              <a:gd name="connsiteY1" fmla="*/ 1445356 h 1445356"/>
              <a:gd name="connsiteX2" fmla="*/ 72933 w 1817198"/>
              <a:gd name="connsiteY2" fmla="*/ 1329140 h 1445356"/>
              <a:gd name="connsiteX3" fmla="*/ 0 w 1817198"/>
              <a:gd name="connsiteY3" fmla="*/ 19714 h 1445356"/>
              <a:gd name="connsiteX0" fmla="*/ 72313 w 1817198"/>
              <a:gd name="connsiteY0" fmla="*/ 0 h 1445356"/>
              <a:gd name="connsiteX1" fmla="*/ 1817198 w 1817198"/>
              <a:gd name="connsiteY1" fmla="*/ 1141603 h 1445356"/>
              <a:gd name="connsiteX0" fmla="*/ 0 w 1738996"/>
              <a:gd name="connsiteY0" fmla="*/ 19714 h 1445356"/>
              <a:gd name="connsiteX1" fmla="*/ 1417320 w 1738996"/>
              <a:gd name="connsiteY1" fmla="*/ 1445356 h 1445356"/>
              <a:gd name="connsiteX2" fmla="*/ 72933 w 1738996"/>
              <a:gd name="connsiteY2" fmla="*/ 1329140 h 1445356"/>
              <a:gd name="connsiteX3" fmla="*/ 0 w 1738996"/>
              <a:gd name="connsiteY3" fmla="*/ 19714 h 1445356"/>
              <a:gd name="connsiteX0" fmla="*/ 72313 w 1738996"/>
              <a:gd name="connsiteY0" fmla="*/ 0 h 1445356"/>
              <a:gd name="connsiteX1" fmla="*/ 1738996 w 1738996"/>
              <a:gd name="connsiteY1" fmla="*/ 1352478 h 1445356"/>
              <a:gd name="connsiteX0" fmla="*/ 0 w 1738996"/>
              <a:gd name="connsiteY0" fmla="*/ 19714 h 1445356"/>
              <a:gd name="connsiteX1" fmla="*/ 1417320 w 1738996"/>
              <a:gd name="connsiteY1" fmla="*/ 1445356 h 1445356"/>
              <a:gd name="connsiteX2" fmla="*/ 247891 w 1738996"/>
              <a:gd name="connsiteY2" fmla="*/ 1199612 h 1445356"/>
              <a:gd name="connsiteX3" fmla="*/ 0 w 1738996"/>
              <a:gd name="connsiteY3" fmla="*/ 19714 h 1445356"/>
              <a:gd name="connsiteX0" fmla="*/ 72313 w 1738996"/>
              <a:gd name="connsiteY0" fmla="*/ 0 h 1445356"/>
              <a:gd name="connsiteX1" fmla="*/ 1738996 w 1738996"/>
              <a:gd name="connsiteY1" fmla="*/ 1352478 h 1445356"/>
              <a:gd name="connsiteX0" fmla="*/ 0 w 1738996"/>
              <a:gd name="connsiteY0" fmla="*/ 19714 h 1445356"/>
              <a:gd name="connsiteX1" fmla="*/ 1417320 w 1738996"/>
              <a:gd name="connsiteY1" fmla="*/ 1445356 h 1445356"/>
              <a:gd name="connsiteX2" fmla="*/ 682835 w 1738996"/>
              <a:gd name="connsiteY2" fmla="*/ 834509 h 1445356"/>
              <a:gd name="connsiteX3" fmla="*/ 0 w 1738996"/>
              <a:gd name="connsiteY3" fmla="*/ 19714 h 1445356"/>
              <a:gd name="connsiteX0" fmla="*/ 72313 w 1738996"/>
              <a:gd name="connsiteY0" fmla="*/ 0 h 1445356"/>
              <a:gd name="connsiteX1" fmla="*/ 1738996 w 1738996"/>
              <a:gd name="connsiteY1" fmla="*/ 1352478 h 1445356"/>
              <a:gd name="connsiteX0" fmla="*/ 0 w 1738996"/>
              <a:gd name="connsiteY0" fmla="*/ 19714 h 1445356"/>
              <a:gd name="connsiteX1" fmla="*/ 1009667 w 1738996"/>
              <a:gd name="connsiteY1" fmla="*/ 578931 h 1445356"/>
              <a:gd name="connsiteX2" fmla="*/ 1417320 w 1738996"/>
              <a:gd name="connsiteY2" fmla="*/ 1445356 h 1445356"/>
              <a:gd name="connsiteX3" fmla="*/ 682835 w 1738996"/>
              <a:gd name="connsiteY3" fmla="*/ 834509 h 1445356"/>
              <a:gd name="connsiteX4" fmla="*/ 0 w 1738996"/>
              <a:gd name="connsiteY4" fmla="*/ 19714 h 1445356"/>
              <a:gd name="connsiteX0" fmla="*/ 72313 w 1738996"/>
              <a:gd name="connsiteY0" fmla="*/ 0 h 1445356"/>
              <a:gd name="connsiteX1" fmla="*/ 1738996 w 1738996"/>
              <a:gd name="connsiteY1" fmla="*/ 1352478 h 1445356"/>
              <a:gd name="connsiteX0" fmla="*/ 0 w 1738996"/>
              <a:gd name="connsiteY0" fmla="*/ 60811 h 1486453"/>
              <a:gd name="connsiteX1" fmla="*/ 1009667 w 1738996"/>
              <a:gd name="connsiteY1" fmla="*/ 620028 h 1486453"/>
              <a:gd name="connsiteX2" fmla="*/ 1417320 w 1738996"/>
              <a:gd name="connsiteY2" fmla="*/ 1486453 h 1486453"/>
              <a:gd name="connsiteX3" fmla="*/ 682835 w 1738996"/>
              <a:gd name="connsiteY3" fmla="*/ 875606 h 1486453"/>
              <a:gd name="connsiteX4" fmla="*/ 0 w 1738996"/>
              <a:gd name="connsiteY4" fmla="*/ 60811 h 1486453"/>
              <a:gd name="connsiteX0" fmla="*/ 51699 w 1738996"/>
              <a:gd name="connsiteY0" fmla="*/ 0 h 1486453"/>
              <a:gd name="connsiteX1" fmla="*/ 1738996 w 1738996"/>
              <a:gd name="connsiteY1" fmla="*/ 1393575 h 1486453"/>
              <a:gd name="connsiteX0" fmla="*/ 0 w 1738996"/>
              <a:gd name="connsiteY0" fmla="*/ 60811 h 1486453"/>
              <a:gd name="connsiteX1" fmla="*/ 956265 w 1738996"/>
              <a:gd name="connsiteY1" fmla="*/ 666030 h 1486453"/>
              <a:gd name="connsiteX2" fmla="*/ 1417320 w 1738996"/>
              <a:gd name="connsiteY2" fmla="*/ 1486453 h 1486453"/>
              <a:gd name="connsiteX3" fmla="*/ 682835 w 1738996"/>
              <a:gd name="connsiteY3" fmla="*/ 875606 h 1486453"/>
              <a:gd name="connsiteX4" fmla="*/ 0 w 1738996"/>
              <a:gd name="connsiteY4" fmla="*/ 60811 h 1486453"/>
              <a:gd name="connsiteX0" fmla="*/ 51699 w 1738996"/>
              <a:gd name="connsiteY0" fmla="*/ 0 h 1486453"/>
              <a:gd name="connsiteX1" fmla="*/ 1738996 w 1738996"/>
              <a:gd name="connsiteY1" fmla="*/ 1393575 h 1486453"/>
              <a:gd name="connsiteX0" fmla="*/ 0 w 1738996"/>
              <a:gd name="connsiteY0" fmla="*/ 60811 h 1486453"/>
              <a:gd name="connsiteX1" fmla="*/ 956265 w 1738996"/>
              <a:gd name="connsiteY1" fmla="*/ 666030 h 1486453"/>
              <a:gd name="connsiteX2" fmla="*/ 1417320 w 1738996"/>
              <a:gd name="connsiteY2" fmla="*/ 1486453 h 1486453"/>
              <a:gd name="connsiteX3" fmla="*/ 777778 w 1738996"/>
              <a:gd name="connsiteY3" fmla="*/ 819764 h 1486453"/>
              <a:gd name="connsiteX4" fmla="*/ 0 w 1738996"/>
              <a:gd name="connsiteY4" fmla="*/ 60811 h 1486453"/>
              <a:gd name="connsiteX0" fmla="*/ 51699 w 1738996"/>
              <a:gd name="connsiteY0" fmla="*/ 0 h 1486453"/>
              <a:gd name="connsiteX1" fmla="*/ 1738996 w 1738996"/>
              <a:gd name="connsiteY1" fmla="*/ 1393575 h 1486453"/>
              <a:gd name="connsiteX0" fmla="*/ 0 w 1738996"/>
              <a:gd name="connsiteY0" fmla="*/ 60811 h 1486453"/>
              <a:gd name="connsiteX1" fmla="*/ 1266359 w 1738996"/>
              <a:gd name="connsiteY1" fmla="*/ 849288 h 1486453"/>
              <a:gd name="connsiteX2" fmla="*/ 1417320 w 1738996"/>
              <a:gd name="connsiteY2" fmla="*/ 1486453 h 1486453"/>
              <a:gd name="connsiteX3" fmla="*/ 777778 w 1738996"/>
              <a:gd name="connsiteY3" fmla="*/ 819764 h 1486453"/>
              <a:gd name="connsiteX4" fmla="*/ 0 w 1738996"/>
              <a:gd name="connsiteY4" fmla="*/ 60811 h 1486453"/>
              <a:gd name="connsiteX0" fmla="*/ 51699 w 1738996"/>
              <a:gd name="connsiteY0" fmla="*/ 0 h 1486453"/>
              <a:gd name="connsiteX1" fmla="*/ 1738996 w 1738996"/>
              <a:gd name="connsiteY1" fmla="*/ 1393575 h 1486453"/>
              <a:gd name="connsiteX0" fmla="*/ 0 w 1738996"/>
              <a:gd name="connsiteY0" fmla="*/ 60811 h 1486453"/>
              <a:gd name="connsiteX1" fmla="*/ 757567 w 1738996"/>
              <a:gd name="connsiteY1" fmla="*/ 553330 h 1486453"/>
              <a:gd name="connsiteX2" fmla="*/ 1417320 w 1738996"/>
              <a:gd name="connsiteY2" fmla="*/ 1486453 h 1486453"/>
              <a:gd name="connsiteX3" fmla="*/ 777778 w 1738996"/>
              <a:gd name="connsiteY3" fmla="*/ 819764 h 1486453"/>
              <a:gd name="connsiteX4" fmla="*/ 0 w 1738996"/>
              <a:gd name="connsiteY4" fmla="*/ 60811 h 1486453"/>
              <a:gd name="connsiteX0" fmla="*/ 51699 w 1738996"/>
              <a:gd name="connsiteY0" fmla="*/ 0 h 1486453"/>
              <a:gd name="connsiteX1" fmla="*/ 1738996 w 1738996"/>
              <a:gd name="connsiteY1" fmla="*/ 1393575 h 1486453"/>
              <a:gd name="connsiteX0" fmla="*/ 0 w 1733260"/>
              <a:gd name="connsiteY0" fmla="*/ 60811 h 1486453"/>
              <a:gd name="connsiteX1" fmla="*/ 757567 w 1733260"/>
              <a:gd name="connsiteY1" fmla="*/ 553330 h 1486453"/>
              <a:gd name="connsiteX2" fmla="*/ 1417320 w 1733260"/>
              <a:gd name="connsiteY2" fmla="*/ 1486453 h 1486453"/>
              <a:gd name="connsiteX3" fmla="*/ 777778 w 1733260"/>
              <a:gd name="connsiteY3" fmla="*/ 819764 h 1486453"/>
              <a:gd name="connsiteX4" fmla="*/ 0 w 1733260"/>
              <a:gd name="connsiteY4" fmla="*/ 60811 h 1486453"/>
              <a:gd name="connsiteX0" fmla="*/ 51699 w 1733260"/>
              <a:gd name="connsiteY0" fmla="*/ 0 h 1486453"/>
              <a:gd name="connsiteX1" fmla="*/ 1733260 w 1733260"/>
              <a:gd name="connsiteY1" fmla="*/ 1355379 h 1486453"/>
              <a:gd name="connsiteX0" fmla="*/ 0 w 1733260"/>
              <a:gd name="connsiteY0" fmla="*/ 60811 h 1486453"/>
              <a:gd name="connsiteX1" fmla="*/ 757567 w 1733260"/>
              <a:gd name="connsiteY1" fmla="*/ 553330 h 1486453"/>
              <a:gd name="connsiteX2" fmla="*/ 1417320 w 1733260"/>
              <a:gd name="connsiteY2" fmla="*/ 1486453 h 1486453"/>
              <a:gd name="connsiteX3" fmla="*/ 777778 w 1733260"/>
              <a:gd name="connsiteY3" fmla="*/ 819764 h 1486453"/>
              <a:gd name="connsiteX4" fmla="*/ 0 w 1733260"/>
              <a:gd name="connsiteY4" fmla="*/ 60811 h 1486453"/>
              <a:gd name="connsiteX0" fmla="*/ 51699 w 1733260"/>
              <a:gd name="connsiteY0" fmla="*/ 0 h 1486453"/>
              <a:gd name="connsiteX1" fmla="*/ 1733260 w 1733260"/>
              <a:gd name="connsiteY1" fmla="*/ 1355379 h 1486453"/>
              <a:gd name="connsiteX0" fmla="*/ 0 w 1733260"/>
              <a:gd name="connsiteY0" fmla="*/ 60811 h 1486453"/>
              <a:gd name="connsiteX1" fmla="*/ 757567 w 1733260"/>
              <a:gd name="connsiteY1" fmla="*/ 553330 h 1486453"/>
              <a:gd name="connsiteX2" fmla="*/ 1417320 w 1733260"/>
              <a:gd name="connsiteY2" fmla="*/ 1486453 h 1486453"/>
              <a:gd name="connsiteX3" fmla="*/ 777778 w 1733260"/>
              <a:gd name="connsiteY3" fmla="*/ 819764 h 1486453"/>
              <a:gd name="connsiteX4" fmla="*/ 0 w 1733260"/>
              <a:gd name="connsiteY4" fmla="*/ 60811 h 1486453"/>
              <a:gd name="connsiteX0" fmla="*/ 51699 w 1733260"/>
              <a:gd name="connsiteY0" fmla="*/ 0 h 1486453"/>
              <a:gd name="connsiteX1" fmla="*/ 1733260 w 1733260"/>
              <a:gd name="connsiteY1" fmla="*/ 1355379 h 1486453"/>
              <a:gd name="connsiteX0" fmla="*/ 0 w 1733260"/>
              <a:gd name="connsiteY0" fmla="*/ 60811 h 1486453"/>
              <a:gd name="connsiteX1" fmla="*/ 757567 w 1733260"/>
              <a:gd name="connsiteY1" fmla="*/ 553330 h 1486453"/>
              <a:gd name="connsiteX2" fmla="*/ 1417320 w 1733260"/>
              <a:gd name="connsiteY2" fmla="*/ 1486453 h 1486453"/>
              <a:gd name="connsiteX3" fmla="*/ 777778 w 1733260"/>
              <a:gd name="connsiteY3" fmla="*/ 819764 h 1486453"/>
              <a:gd name="connsiteX4" fmla="*/ 0 w 1733260"/>
              <a:gd name="connsiteY4" fmla="*/ 60811 h 1486453"/>
              <a:gd name="connsiteX0" fmla="*/ 51699 w 1733260"/>
              <a:gd name="connsiteY0" fmla="*/ 0 h 1486453"/>
              <a:gd name="connsiteX1" fmla="*/ 1733260 w 1733260"/>
              <a:gd name="connsiteY1" fmla="*/ 1355379 h 1486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33260" h="1486453" stroke="0" extrusionOk="0">
                <a:moveTo>
                  <a:pt x="0" y="60811"/>
                </a:moveTo>
                <a:cubicBezTo>
                  <a:pt x="62785" y="6281"/>
                  <a:pt x="521347" y="315723"/>
                  <a:pt x="757567" y="553330"/>
                </a:cubicBezTo>
                <a:cubicBezTo>
                  <a:pt x="993787" y="790937"/>
                  <a:pt x="1480105" y="1431923"/>
                  <a:pt x="1417320" y="1486453"/>
                </a:cubicBezTo>
                <a:lnTo>
                  <a:pt x="777778" y="819764"/>
                </a:lnTo>
                <a:cubicBezTo>
                  <a:pt x="777778" y="344550"/>
                  <a:pt x="0" y="536025"/>
                  <a:pt x="0" y="60811"/>
                </a:cubicBezTo>
                <a:close/>
              </a:path>
              <a:path w="1733260" h="1486453" fill="none">
                <a:moveTo>
                  <a:pt x="51699" y="0"/>
                </a:moveTo>
                <a:cubicBezTo>
                  <a:pt x="824849" y="214014"/>
                  <a:pt x="1390512" y="639132"/>
                  <a:pt x="1733260" y="1355379"/>
                </a:cubicBezTo>
              </a:path>
            </a:pathLst>
          </a:custGeom>
          <a:ln w="19050">
            <a:solidFill>
              <a:schemeClr val="accent1">
                <a:lumMod val="50000"/>
              </a:schemeClr>
            </a:solidFill>
            <a:headEnd type="none" w="med" len="med"/>
            <a:tailEnd type="arrow" w="med" len="med"/>
          </a:ln>
          <a:effectLst/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5" name="Arc 39">
            <a:extLst>
              <a:ext uri="{FF2B5EF4-FFF2-40B4-BE49-F238E27FC236}">
                <a16:creationId xmlns:a16="http://schemas.microsoft.com/office/drawing/2014/main" id="{B9C68E9A-71E0-8130-65B5-14F8C01C7521}"/>
              </a:ext>
            </a:extLst>
          </p:cNvPr>
          <p:cNvSpPr/>
          <p:nvPr/>
        </p:nvSpPr>
        <p:spPr>
          <a:xfrm rot="17872158">
            <a:off x="1175519" y="3169961"/>
            <a:ext cx="1394465" cy="722312"/>
          </a:xfrm>
          <a:custGeom>
            <a:avLst/>
            <a:gdLst>
              <a:gd name="connsiteX0" fmla="*/ 1417320 w 2834640"/>
              <a:gd name="connsiteY0" fmla="*/ 0 h 2851283"/>
              <a:gd name="connsiteX1" fmla="*/ 2834640 w 2834640"/>
              <a:gd name="connsiteY1" fmla="*/ 1425642 h 2851283"/>
              <a:gd name="connsiteX2" fmla="*/ 1417320 w 2834640"/>
              <a:gd name="connsiteY2" fmla="*/ 1425642 h 2851283"/>
              <a:gd name="connsiteX3" fmla="*/ 1417320 w 2834640"/>
              <a:gd name="connsiteY3" fmla="*/ 0 h 2851283"/>
              <a:gd name="connsiteX0" fmla="*/ 1417320 w 2834640"/>
              <a:gd name="connsiteY0" fmla="*/ 0 h 2851283"/>
              <a:gd name="connsiteX1" fmla="*/ 2834640 w 2834640"/>
              <a:gd name="connsiteY1" fmla="*/ 1425642 h 2851283"/>
              <a:gd name="connsiteX0" fmla="*/ 0 w 1417320"/>
              <a:gd name="connsiteY0" fmla="*/ 0 h 1425642"/>
              <a:gd name="connsiteX1" fmla="*/ 1417320 w 1417320"/>
              <a:gd name="connsiteY1" fmla="*/ 1425642 h 1425642"/>
              <a:gd name="connsiteX2" fmla="*/ 366655 w 1417320"/>
              <a:gd name="connsiteY2" fmla="*/ 1178595 h 1425642"/>
              <a:gd name="connsiteX3" fmla="*/ 0 w 1417320"/>
              <a:gd name="connsiteY3" fmla="*/ 0 h 1425642"/>
              <a:gd name="connsiteX0" fmla="*/ 0 w 1417320"/>
              <a:gd name="connsiteY0" fmla="*/ 0 h 1425642"/>
              <a:gd name="connsiteX1" fmla="*/ 1417320 w 1417320"/>
              <a:gd name="connsiteY1" fmla="*/ 1425642 h 1425642"/>
              <a:gd name="connsiteX0" fmla="*/ 0 w 1417320"/>
              <a:gd name="connsiteY0" fmla="*/ 0 h 1425642"/>
              <a:gd name="connsiteX1" fmla="*/ 1417320 w 1417320"/>
              <a:gd name="connsiteY1" fmla="*/ 1425642 h 1425642"/>
              <a:gd name="connsiteX2" fmla="*/ 72933 w 1417320"/>
              <a:gd name="connsiteY2" fmla="*/ 1309426 h 1425642"/>
              <a:gd name="connsiteX3" fmla="*/ 0 w 1417320"/>
              <a:gd name="connsiteY3" fmla="*/ 0 h 1425642"/>
              <a:gd name="connsiteX0" fmla="*/ 0 w 1417320"/>
              <a:gd name="connsiteY0" fmla="*/ 0 h 1425642"/>
              <a:gd name="connsiteX1" fmla="*/ 1417320 w 1417320"/>
              <a:gd name="connsiteY1" fmla="*/ 1425642 h 1425642"/>
              <a:gd name="connsiteX0" fmla="*/ 0 w 1417320"/>
              <a:gd name="connsiteY0" fmla="*/ 23286 h 1448928"/>
              <a:gd name="connsiteX1" fmla="*/ 1417320 w 1417320"/>
              <a:gd name="connsiteY1" fmla="*/ 1448928 h 1448928"/>
              <a:gd name="connsiteX2" fmla="*/ 72933 w 1417320"/>
              <a:gd name="connsiteY2" fmla="*/ 1332712 h 1448928"/>
              <a:gd name="connsiteX3" fmla="*/ 0 w 1417320"/>
              <a:gd name="connsiteY3" fmla="*/ 23286 h 1448928"/>
              <a:gd name="connsiteX0" fmla="*/ 320971 w 1417320"/>
              <a:gd name="connsiteY0" fmla="*/ 0 h 1448928"/>
              <a:gd name="connsiteX1" fmla="*/ 1417320 w 1417320"/>
              <a:gd name="connsiteY1" fmla="*/ 1448928 h 1448928"/>
              <a:gd name="connsiteX0" fmla="*/ 0 w 1817198"/>
              <a:gd name="connsiteY0" fmla="*/ 23286 h 1448928"/>
              <a:gd name="connsiteX1" fmla="*/ 1417320 w 1817198"/>
              <a:gd name="connsiteY1" fmla="*/ 1448928 h 1448928"/>
              <a:gd name="connsiteX2" fmla="*/ 72933 w 1817198"/>
              <a:gd name="connsiteY2" fmla="*/ 1332712 h 1448928"/>
              <a:gd name="connsiteX3" fmla="*/ 0 w 1817198"/>
              <a:gd name="connsiteY3" fmla="*/ 23286 h 1448928"/>
              <a:gd name="connsiteX0" fmla="*/ 320971 w 1817198"/>
              <a:gd name="connsiteY0" fmla="*/ 0 h 1448928"/>
              <a:gd name="connsiteX1" fmla="*/ 1817198 w 1817198"/>
              <a:gd name="connsiteY1" fmla="*/ 1145175 h 1448928"/>
              <a:gd name="connsiteX0" fmla="*/ 0 w 1817198"/>
              <a:gd name="connsiteY0" fmla="*/ 19714 h 1445356"/>
              <a:gd name="connsiteX1" fmla="*/ 1417320 w 1817198"/>
              <a:gd name="connsiteY1" fmla="*/ 1445356 h 1445356"/>
              <a:gd name="connsiteX2" fmla="*/ 72933 w 1817198"/>
              <a:gd name="connsiteY2" fmla="*/ 1329140 h 1445356"/>
              <a:gd name="connsiteX3" fmla="*/ 0 w 1817198"/>
              <a:gd name="connsiteY3" fmla="*/ 19714 h 1445356"/>
              <a:gd name="connsiteX0" fmla="*/ 72313 w 1817198"/>
              <a:gd name="connsiteY0" fmla="*/ 0 h 1445356"/>
              <a:gd name="connsiteX1" fmla="*/ 1817198 w 1817198"/>
              <a:gd name="connsiteY1" fmla="*/ 1141603 h 1445356"/>
              <a:gd name="connsiteX0" fmla="*/ 0 w 1738996"/>
              <a:gd name="connsiteY0" fmla="*/ 19714 h 1445356"/>
              <a:gd name="connsiteX1" fmla="*/ 1417320 w 1738996"/>
              <a:gd name="connsiteY1" fmla="*/ 1445356 h 1445356"/>
              <a:gd name="connsiteX2" fmla="*/ 72933 w 1738996"/>
              <a:gd name="connsiteY2" fmla="*/ 1329140 h 1445356"/>
              <a:gd name="connsiteX3" fmla="*/ 0 w 1738996"/>
              <a:gd name="connsiteY3" fmla="*/ 19714 h 1445356"/>
              <a:gd name="connsiteX0" fmla="*/ 72313 w 1738996"/>
              <a:gd name="connsiteY0" fmla="*/ 0 h 1445356"/>
              <a:gd name="connsiteX1" fmla="*/ 1738996 w 1738996"/>
              <a:gd name="connsiteY1" fmla="*/ 1352478 h 1445356"/>
              <a:gd name="connsiteX0" fmla="*/ 0 w 1738996"/>
              <a:gd name="connsiteY0" fmla="*/ 19714 h 1445356"/>
              <a:gd name="connsiteX1" fmla="*/ 1417320 w 1738996"/>
              <a:gd name="connsiteY1" fmla="*/ 1445356 h 1445356"/>
              <a:gd name="connsiteX2" fmla="*/ 247891 w 1738996"/>
              <a:gd name="connsiteY2" fmla="*/ 1199612 h 1445356"/>
              <a:gd name="connsiteX3" fmla="*/ 0 w 1738996"/>
              <a:gd name="connsiteY3" fmla="*/ 19714 h 1445356"/>
              <a:gd name="connsiteX0" fmla="*/ 72313 w 1738996"/>
              <a:gd name="connsiteY0" fmla="*/ 0 h 1445356"/>
              <a:gd name="connsiteX1" fmla="*/ 1738996 w 1738996"/>
              <a:gd name="connsiteY1" fmla="*/ 1352478 h 1445356"/>
              <a:gd name="connsiteX0" fmla="*/ 0 w 1738996"/>
              <a:gd name="connsiteY0" fmla="*/ 19714 h 1445356"/>
              <a:gd name="connsiteX1" fmla="*/ 1417320 w 1738996"/>
              <a:gd name="connsiteY1" fmla="*/ 1445356 h 1445356"/>
              <a:gd name="connsiteX2" fmla="*/ 682835 w 1738996"/>
              <a:gd name="connsiteY2" fmla="*/ 834509 h 1445356"/>
              <a:gd name="connsiteX3" fmla="*/ 0 w 1738996"/>
              <a:gd name="connsiteY3" fmla="*/ 19714 h 1445356"/>
              <a:gd name="connsiteX0" fmla="*/ 72313 w 1738996"/>
              <a:gd name="connsiteY0" fmla="*/ 0 h 1445356"/>
              <a:gd name="connsiteX1" fmla="*/ 1738996 w 1738996"/>
              <a:gd name="connsiteY1" fmla="*/ 1352478 h 1445356"/>
              <a:gd name="connsiteX0" fmla="*/ 0 w 1738996"/>
              <a:gd name="connsiteY0" fmla="*/ 19714 h 1445356"/>
              <a:gd name="connsiteX1" fmla="*/ 1009667 w 1738996"/>
              <a:gd name="connsiteY1" fmla="*/ 578931 h 1445356"/>
              <a:gd name="connsiteX2" fmla="*/ 1417320 w 1738996"/>
              <a:gd name="connsiteY2" fmla="*/ 1445356 h 1445356"/>
              <a:gd name="connsiteX3" fmla="*/ 682835 w 1738996"/>
              <a:gd name="connsiteY3" fmla="*/ 834509 h 1445356"/>
              <a:gd name="connsiteX4" fmla="*/ 0 w 1738996"/>
              <a:gd name="connsiteY4" fmla="*/ 19714 h 1445356"/>
              <a:gd name="connsiteX0" fmla="*/ 72313 w 1738996"/>
              <a:gd name="connsiteY0" fmla="*/ 0 h 1445356"/>
              <a:gd name="connsiteX1" fmla="*/ 1738996 w 1738996"/>
              <a:gd name="connsiteY1" fmla="*/ 1352478 h 1445356"/>
              <a:gd name="connsiteX0" fmla="*/ 0 w 1738996"/>
              <a:gd name="connsiteY0" fmla="*/ 60811 h 1486453"/>
              <a:gd name="connsiteX1" fmla="*/ 1009667 w 1738996"/>
              <a:gd name="connsiteY1" fmla="*/ 620028 h 1486453"/>
              <a:gd name="connsiteX2" fmla="*/ 1417320 w 1738996"/>
              <a:gd name="connsiteY2" fmla="*/ 1486453 h 1486453"/>
              <a:gd name="connsiteX3" fmla="*/ 682835 w 1738996"/>
              <a:gd name="connsiteY3" fmla="*/ 875606 h 1486453"/>
              <a:gd name="connsiteX4" fmla="*/ 0 w 1738996"/>
              <a:gd name="connsiteY4" fmla="*/ 60811 h 1486453"/>
              <a:gd name="connsiteX0" fmla="*/ 51699 w 1738996"/>
              <a:gd name="connsiteY0" fmla="*/ 0 h 1486453"/>
              <a:gd name="connsiteX1" fmla="*/ 1738996 w 1738996"/>
              <a:gd name="connsiteY1" fmla="*/ 1393575 h 1486453"/>
              <a:gd name="connsiteX0" fmla="*/ 0 w 1738996"/>
              <a:gd name="connsiteY0" fmla="*/ 60811 h 1486453"/>
              <a:gd name="connsiteX1" fmla="*/ 816806 w 1738996"/>
              <a:gd name="connsiteY1" fmla="*/ 788751 h 1486453"/>
              <a:gd name="connsiteX2" fmla="*/ 1417320 w 1738996"/>
              <a:gd name="connsiteY2" fmla="*/ 1486453 h 1486453"/>
              <a:gd name="connsiteX3" fmla="*/ 682835 w 1738996"/>
              <a:gd name="connsiteY3" fmla="*/ 875606 h 1486453"/>
              <a:gd name="connsiteX4" fmla="*/ 0 w 1738996"/>
              <a:gd name="connsiteY4" fmla="*/ 60811 h 1486453"/>
              <a:gd name="connsiteX0" fmla="*/ 51699 w 1738996"/>
              <a:gd name="connsiteY0" fmla="*/ 0 h 1486453"/>
              <a:gd name="connsiteX1" fmla="*/ 1738996 w 1738996"/>
              <a:gd name="connsiteY1" fmla="*/ 1393575 h 1486453"/>
              <a:gd name="connsiteX0" fmla="*/ 0 w 1654730"/>
              <a:gd name="connsiteY0" fmla="*/ 60811 h 1486453"/>
              <a:gd name="connsiteX1" fmla="*/ 816806 w 1654730"/>
              <a:gd name="connsiteY1" fmla="*/ 788751 h 1486453"/>
              <a:gd name="connsiteX2" fmla="*/ 1417320 w 1654730"/>
              <a:gd name="connsiteY2" fmla="*/ 1486453 h 1486453"/>
              <a:gd name="connsiteX3" fmla="*/ 682835 w 1654730"/>
              <a:gd name="connsiteY3" fmla="*/ 875606 h 1486453"/>
              <a:gd name="connsiteX4" fmla="*/ 0 w 1654730"/>
              <a:gd name="connsiteY4" fmla="*/ 60811 h 1486453"/>
              <a:gd name="connsiteX0" fmla="*/ 51699 w 1654730"/>
              <a:gd name="connsiteY0" fmla="*/ 0 h 1486453"/>
              <a:gd name="connsiteX1" fmla="*/ 1654730 w 1654730"/>
              <a:gd name="connsiteY1" fmla="*/ 1355064 h 1486453"/>
              <a:gd name="connsiteX0" fmla="*/ 0 w 1714105"/>
              <a:gd name="connsiteY0" fmla="*/ 60811 h 1486453"/>
              <a:gd name="connsiteX1" fmla="*/ 816806 w 1714105"/>
              <a:gd name="connsiteY1" fmla="*/ 788751 h 1486453"/>
              <a:gd name="connsiteX2" fmla="*/ 1417320 w 1714105"/>
              <a:gd name="connsiteY2" fmla="*/ 1486453 h 1486453"/>
              <a:gd name="connsiteX3" fmla="*/ 682835 w 1714105"/>
              <a:gd name="connsiteY3" fmla="*/ 875606 h 1486453"/>
              <a:gd name="connsiteX4" fmla="*/ 0 w 1714105"/>
              <a:gd name="connsiteY4" fmla="*/ 60811 h 1486453"/>
              <a:gd name="connsiteX0" fmla="*/ 51699 w 1714105"/>
              <a:gd name="connsiteY0" fmla="*/ 0 h 1486453"/>
              <a:gd name="connsiteX1" fmla="*/ 1714105 w 1714105"/>
              <a:gd name="connsiteY1" fmla="*/ 1373684 h 1486453"/>
              <a:gd name="connsiteX0" fmla="*/ 0 w 1714105"/>
              <a:gd name="connsiteY0" fmla="*/ 60811 h 1486453"/>
              <a:gd name="connsiteX1" fmla="*/ 816806 w 1714105"/>
              <a:gd name="connsiteY1" fmla="*/ 788751 h 1486453"/>
              <a:gd name="connsiteX2" fmla="*/ 1417320 w 1714105"/>
              <a:gd name="connsiteY2" fmla="*/ 1486453 h 1486453"/>
              <a:gd name="connsiteX3" fmla="*/ 682835 w 1714105"/>
              <a:gd name="connsiteY3" fmla="*/ 875606 h 1486453"/>
              <a:gd name="connsiteX4" fmla="*/ 0 w 1714105"/>
              <a:gd name="connsiteY4" fmla="*/ 60811 h 1486453"/>
              <a:gd name="connsiteX0" fmla="*/ 51699 w 1714105"/>
              <a:gd name="connsiteY0" fmla="*/ 0 h 1486453"/>
              <a:gd name="connsiteX1" fmla="*/ 1714105 w 1714105"/>
              <a:gd name="connsiteY1" fmla="*/ 1373684 h 1486453"/>
              <a:gd name="connsiteX0" fmla="*/ 0 w 1714105"/>
              <a:gd name="connsiteY0" fmla="*/ 60811 h 1486453"/>
              <a:gd name="connsiteX1" fmla="*/ 816806 w 1714105"/>
              <a:gd name="connsiteY1" fmla="*/ 788751 h 1486453"/>
              <a:gd name="connsiteX2" fmla="*/ 1417320 w 1714105"/>
              <a:gd name="connsiteY2" fmla="*/ 1486453 h 1486453"/>
              <a:gd name="connsiteX3" fmla="*/ 682835 w 1714105"/>
              <a:gd name="connsiteY3" fmla="*/ 875606 h 1486453"/>
              <a:gd name="connsiteX4" fmla="*/ 0 w 1714105"/>
              <a:gd name="connsiteY4" fmla="*/ 60811 h 1486453"/>
              <a:gd name="connsiteX0" fmla="*/ 51699 w 1714105"/>
              <a:gd name="connsiteY0" fmla="*/ 0 h 1486453"/>
              <a:gd name="connsiteX1" fmla="*/ 1714105 w 1714105"/>
              <a:gd name="connsiteY1" fmla="*/ 1373684 h 1486453"/>
              <a:gd name="connsiteX0" fmla="*/ 0 w 1714105"/>
              <a:gd name="connsiteY0" fmla="*/ 60811 h 1486453"/>
              <a:gd name="connsiteX1" fmla="*/ 816806 w 1714105"/>
              <a:gd name="connsiteY1" fmla="*/ 788751 h 1486453"/>
              <a:gd name="connsiteX2" fmla="*/ 1417320 w 1714105"/>
              <a:gd name="connsiteY2" fmla="*/ 1486453 h 1486453"/>
              <a:gd name="connsiteX3" fmla="*/ 682835 w 1714105"/>
              <a:gd name="connsiteY3" fmla="*/ 875606 h 1486453"/>
              <a:gd name="connsiteX4" fmla="*/ 0 w 1714105"/>
              <a:gd name="connsiteY4" fmla="*/ 60811 h 1486453"/>
              <a:gd name="connsiteX0" fmla="*/ 51699 w 1714105"/>
              <a:gd name="connsiteY0" fmla="*/ 0 h 1486453"/>
              <a:gd name="connsiteX1" fmla="*/ 1714105 w 1714105"/>
              <a:gd name="connsiteY1" fmla="*/ 1373684 h 1486453"/>
              <a:gd name="connsiteX0" fmla="*/ 0 w 1703953"/>
              <a:gd name="connsiteY0" fmla="*/ 27736 h 1486453"/>
              <a:gd name="connsiteX1" fmla="*/ 806654 w 1703953"/>
              <a:gd name="connsiteY1" fmla="*/ 788751 h 1486453"/>
              <a:gd name="connsiteX2" fmla="*/ 1407168 w 1703953"/>
              <a:gd name="connsiteY2" fmla="*/ 1486453 h 1486453"/>
              <a:gd name="connsiteX3" fmla="*/ 672683 w 1703953"/>
              <a:gd name="connsiteY3" fmla="*/ 875606 h 1486453"/>
              <a:gd name="connsiteX4" fmla="*/ 0 w 1703953"/>
              <a:gd name="connsiteY4" fmla="*/ 27736 h 1486453"/>
              <a:gd name="connsiteX0" fmla="*/ 41547 w 1703953"/>
              <a:gd name="connsiteY0" fmla="*/ 0 h 1486453"/>
              <a:gd name="connsiteX1" fmla="*/ 1703953 w 1703953"/>
              <a:gd name="connsiteY1" fmla="*/ 1373684 h 1486453"/>
              <a:gd name="connsiteX0" fmla="*/ 0 w 1703953"/>
              <a:gd name="connsiteY0" fmla="*/ 3609 h 1462326"/>
              <a:gd name="connsiteX1" fmla="*/ 806654 w 1703953"/>
              <a:gd name="connsiteY1" fmla="*/ 764624 h 1462326"/>
              <a:gd name="connsiteX2" fmla="*/ 1407168 w 1703953"/>
              <a:gd name="connsiteY2" fmla="*/ 1462326 h 1462326"/>
              <a:gd name="connsiteX3" fmla="*/ 672683 w 1703953"/>
              <a:gd name="connsiteY3" fmla="*/ 851479 h 1462326"/>
              <a:gd name="connsiteX4" fmla="*/ 0 w 1703953"/>
              <a:gd name="connsiteY4" fmla="*/ 3609 h 1462326"/>
              <a:gd name="connsiteX0" fmla="*/ 47802 w 1703953"/>
              <a:gd name="connsiteY0" fmla="*/ 26178 h 1462326"/>
              <a:gd name="connsiteX1" fmla="*/ 1703953 w 1703953"/>
              <a:gd name="connsiteY1" fmla="*/ 1349557 h 1462326"/>
              <a:gd name="connsiteX0" fmla="*/ 0 w 1703953"/>
              <a:gd name="connsiteY0" fmla="*/ 3609 h 1462326"/>
              <a:gd name="connsiteX1" fmla="*/ 806654 w 1703953"/>
              <a:gd name="connsiteY1" fmla="*/ 764624 h 1462326"/>
              <a:gd name="connsiteX2" fmla="*/ 1407168 w 1703953"/>
              <a:gd name="connsiteY2" fmla="*/ 1462326 h 1462326"/>
              <a:gd name="connsiteX3" fmla="*/ 672683 w 1703953"/>
              <a:gd name="connsiteY3" fmla="*/ 851479 h 1462326"/>
              <a:gd name="connsiteX4" fmla="*/ 0 w 1703953"/>
              <a:gd name="connsiteY4" fmla="*/ 3609 h 1462326"/>
              <a:gd name="connsiteX0" fmla="*/ 47802 w 1703953"/>
              <a:gd name="connsiteY0" fmla="*/ 26178 h 1462326"/>
              <a:gd name="connsiteX1" fmla="*/ 1703953 w 1703953"/>
              <a:gd name="connsiteY1" fmla="*/ 1349557 h 1462326"/>
              <a:gd name="connsiteX0" fmla="*/ 0 w 1703953"/>
              <a:gd name="connsiteY0" fmla="*/ 3609 h 1462326"/>
              <a:gd name="connsiteX1" fmla="*/ 806654 w 1703953"/>
              <a:gd name="connsiteY1" fmla="*/ 764624 h 1462326"/>
              <a:gd name="connsiteX2" fmla="*/ 1407168 w 1703953"/>
              <a:gd name="connsiteY2" fmla="*/ 1462326 h 1462326"/>
              <a:gd name="connsiteX3" fmla="*/ 672683 w 1703953"/>
              <a:gd name="connsiteY3" fmla="*/ 851479 h 1462326"/>
              <a:gd name="connsiteX4" fmla="*/ 0 w 1703953"/>
              <a:gd name="connsiteY4" fmla="*/ 3609 h 1462326"/>
              <a:gd name="connsiteX0" fmla="*/ 47802 w 1703953"/>
              <a:gd name="connsiteY0" fmla="*/ 26178 h 1462326"/>
              <a:gd name="connsiteX1" fmla="*/ 1703953 w 1703953"/>
              <a:gd name="connsiteY1" fmla="*/ 1349557 h 1462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703953" h="1462326" stroke="0" extrusionOk="0">
                <a:moveTo>
                  <a:pt x="0" y="3609"/>
                </a:moveTo>
                <a:cubicBezTo>
                  <a:pt x="62785" y="-50921"/>
                  <a:pt x="570434" y="527017"/>
                  <a:pt x="806654" y="764624"/>
                </a:cubicBezTo>
                <a:cubicBezTo>
                  <a:pt x="1042874" y="1002231"/>
                  <a:pt x="1469953" y="1407796"/>
                  <a:pt x="1407168" y="1462326"/>
                </a:cubicBezTo>
                <a:lnTo>
                  <a:pt x="672683" y="851479"/>
                </a:lnTo>
                <a:cubicBezTo>
                  <a:pt x="672683" y="376265"/>
                  <a:pt x="0" y="478823"/>
                  <a:pt x="0" y="3609"/>
                </a:cubicBezTo>
                <a:close/>
              </a:path>
              <a:path w="1703953" h="1462326" fill="none">
                <a:moveTo>
                  <a:pt x="47802" y="26178"/>
                </a:moveTo>
                <a:cubicBezTo>
                  <a:pt x="808098" y="353509"/>
                  <a:pt x="1342058" y="847542"/>
                  <a:pt x="1703953" y="1349557"/>
                </a:cubicBezTo>
              </a:path>
            </a:pathLst>
          </a:custGeom>
          <a:ln w="19050">
            <a:solidFill>
              <a:schemeClr val="accent1">
                <a:lumMod val="50000"/>
              </a:schemeClr>
            </a:solidFill>
            <a:headEnd type="none" w="med" len="med"/>
            <a:tailEnd type="arrow" w="med" len="med"/>
          </a:ln>
          <a:effectLst/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9EFEC07-E42C-7FAC-4260-E0F610E4424C}"/>
              </a:ext>
            </a:extLst>
          </p:cNvPr>
          <p:cNvSpPr txBox="1"/>
          <p:nvPr/>
        </p:nvSpPr>
        <p:spPr>
          <a:xfrm>
            <a:off x="882918" y="2261545"/>
            <a:ext cx="2908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.</a:t>
            </a:r>
          </a:p>
          <a:p>
            <a:r>
              <a:rPr lang="en-US" sz="2400" dirty="0"/>
              <a:t>.</a:t>
            </a:r>
          </a:p>
          <a:p>
            <a:r>
              <a:rPr lang="en-US" sz="2400" dirty="0"/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184036-B5D0-3730-51B2-FC4F291A619F}"/>
              </a:ext>
            </a:extLst>
          </p:cNvPr>
          <p:cNvSpPr txBox="1"/>
          <p:nvPr/>
        </p:nvSpPr>
        <p:spPr>
          <a:xfrm>
            <a:off x="7158221" y="4345923"/>
            <a:ext cx="180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Redis Key-Value Stores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002686-AD2F-E022-2FDE-4569BCDD560E}"/>
              </a:ext>
            </a:extLst>
          </p:cNvPr>
          <p:cNvSpPr txBox="1"/>
          <p:nvPr/>
        </p:nvSpPr>
        <p:spPr>
          <a:xfrm rot="1918651">
            <a:off x="1362230" y="1562966"/>
            <a:ext cx="1165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Proto Request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60F1A-E382-B7EB-7D97-FF7E1CD10FB7}"/>
              </a:ext>
            </a:extLst>
          </p:cNvPr>
          <p:cNvSpPr txBox="1"/>
          <p:nvPr/>
        </p:nvSpPr>
        <p:spPr>
          <a:xfrm rot="2234965">
            <a:off x="1223286" y="2323337"/>
            <a:ext cx="12843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Proto Response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EDF7123-09CC-CC90-F00B-DB6427F19891}"/>
              </a:ext>
            </a:extLst>
          </p:cNvPr>
          <p:cNvSpPr/>
          <p:nvPr/>
        </p:nvSpPr>
        <p:spPr>
          <a:xfrm>
            <a:off x="5115450" y="2698174"/>
            <a:ext cx="1754760" cy="621594"/>
          </a:xfrm>
          <a:prstGeom prst="roundRect">
            <a:avLst/>
          </a:prstGeom>
          <a:ln w="12700">
            <a:solidFill>
              <a:schemeClr val="tx2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redis-py</a:t>
            </a:r>
          </a:p>
          <a:p>
            <a:pPr algn="ctr"/>
            <a:r>
              <a:rPr lang="en-US" sz="1200" dirty="0"/>
              <a:t>(Python Interface)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CDFE943-11E8-F6D2-C181-2796DBEE64C9}"/>
              </a:ext>
            </a:extLst>
          </p:cNvPr>
          <p:cNvCxnSpPr>
            <a:cxnSpLocks/>
          </p:cNvCxnSpPr>
          <p:nvPr/>
        </p:nvCxnSpPr>
        <p:spPr>
          <a:xfrm flipV="1">
            <a:off x="6489049" y="1893738"/>
            <a:ext cx="1308936" cy="8010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A4B1CE0-3A57-6AC1-B5C2-143A7240B0C2}"/>
              </a:ext>
            </a:extLst>
          </p:cNvPr>
          <p:cNvCxnSpPr>
            <a:cxnSpLocks/>
            <a:stCxn id="10" idx="3"/>
          </p:cNvCxnSpPr>
          <p:nvPr/>
        </p:nvCxnSpPr>
        <p:spPr>
          <a:xfrm flipH="1">
            <a:off x="6851997" y="2036679"/>
            <a:ext cx="1153706" cy="7049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1344753-3C76-FD74-CF8B-156E2A80402E}"/>
              </a:ext>
            </a:extLst>
          </p:cNvPr>
          <p:cNvSpPr txBox="1"/>
          <p:nvPr/>
        </p:nvSpPr>
        <p:spPr>
          <a:xfrm>
            <a:off x="4064120" y="1905874"/>
            <a:ext cx="13035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Middleware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E6C0552-777F-5753-DB2A-D92D301C46C4}"/>
              </a:ext>
            </a:extLst>
          </p:cNvPr>
          <p:cNvCxnSpPr>
            <a:cxnSpLocks/>
          </p:cNvCxnSpPr>
          <p:nvPr/>
        </p:nvCxnSpPr>
        <p:spPr>
          <a:xfrm>
            <a:off x="6352385" y="3319768"/>
            <a:ext cx="1436587" cy="6201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303BD14-3AF7-0C5C-0077-A8F98F85E194}"/>
              </a:ext>
            </a:extLst>
          </p:cNvPr>
          <p:cNvCxnSpPr>
            <a:cxnSpLocks/>
            <a:stCxn id="14" idx="1"/>
          </p:cNvCxnSpPr>
          <p:nvPr/>
        </p:nvCxnSpPr>
        <p:spPr>
          <a:xfrm flipH="1" flipV="1">
            <a:off x="6819778" y="3301126"/>
            <a:ext cx="1185218" cy="4947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415AC05B-C883-FA48-37DE-0B40BBCC70F8}"/>
              </a:ext>
            </a:extLst>
          </p:cNvPr>
          <p:cNvSpPr txBox="1"/>
          <p:nvPr/>
        </p:nvSpPr>
        <p:spPr>
          <a:xfrm>
            <a:off x="7894686" y="2316118"/>
            <a:ext cx="2908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.</a:t>
            </a:r>
          </a:p>
          <a:p>
            <a:r>
              <a:rPr lang="en-US" sz="2400" dirty="0"/>
              <a:t>.</a:t>
            </a:r>
          </a:p>
          <a:p>
            <a:r>
              <a:rPr lang="en-US" sz="2400" dirty="0"/>
              <a:t>.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82DFDAC-E910-8908-4FC4-5B27669CB765}"/>
              </a:ext>
            </a:extLst>
          </p:cNvPr>
          <p:cNvCxnSpPr>
            <a:cxnSpLocks/>
            <a:stCxn id="44" idx="3"/>
            <a:endCxn id="7" idx="1"/>
          </p:cNvCxnSpPr>
          <p:nvPr/>
        </p:nvCxnSpPr>
        <p:spPr>
          <a:xfrm flipV="1">
            <a:off x="3235609" y="3008971"/>
            <a:ext cx="1879841" cy="117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74718BE-5847-EFED-E17E-3C0F1AAC24B1}"/>
              </a:ext>
            </a:extLst>
          </p:cNvPr>
          <p:cNvSpPr txBox="1"/>
          <p:nvPr/>
        </p:nvSpPr>
        <p:spPr>
          <a:xfrm>
            <a:off x="3635156" y="3014876"/>
            <a:ext cx="1156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Function Calls</a:t>
            </a:r>
          </a:p>
        </p:txBody>
      </p:sp>
    </p:spTree>
    <p:extLst>
      <p:ext uri="{BB962C8B-B14F-4D97-AF65-F5344CB8AC3E}">
        <p14:creationId xmlns:p14="http://schemas.microsoft.com/office/powerpoint/2010/main" val="8488573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ECBD3-90D3-6D37-51C4-B19348C4E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Communication: Client-to-Middleware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6BEC9B-94C0-7C40-E6CE-4BCBBB8E5384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80490" y="1185474"/>
            <a:ext cx="8783998" cy="3591314"/>
          </a:xfrm>
        </p:spPr>
        <p:txBody>
          <a:bodyPr/>
          <a:lstStyle/>
          <a:p>
            <a:pPr marL="644525" lvl="2" indent="-285750" algn="just"/>
            <a:r>
              <a:rPr lang="en-US" dirty="0" err="1"/>
              <a:t>gRPC</a:t>
            </a:r>
            <a:r>
              <a:rPr lang="en-US" dirty="0"/>
              <a:t>: Remote Procedure Call (RPC) framework implemented on top of HTTP/2, using Protocol Buffers as binary serialization toolset</a:t>
            </a:r>
          </a:p>
          <a:p>
            <a:pPr marL="644525" lvl="2" indent="-285750" algn="just"/>
            <a:r>
              <a:rPr lang="en-US" dirty="0"/>
              <a:t>Message types for structured data and services (RPC functions, which can be called remotely) defined in a proto definition file (.proto)</a:t>
            </a:r>
          </a:p>
          <a:p>
            <a:pPr marL="644525" lvl="2" indent="-285750" algn="just"/>
            <a:r>
              <a:rPr lang="en-US" dirty="0"/>
              <a:t>Bidirectional communication between client-side gRPC stubs and gRPC service provider in middleware (Proto Request and Proto Response)</a:t>
            </a:r>
          </a:p>
          <a:p>
            <a:pPr marL="644525" lvl="2" indent="-285750" algn="just"/>
            <a:r>
              <a:rPr lang="en-US" dirty="0"/>
              <a:t>Serialization via a common python interface definition language based on protocol buffer language (version=proto3)</a:t>
            </a:r>
          </a:p>
          <a:p>
            <a:pPr marL="644525" lvl="2" indent="-285750" algn="just"/>
            <a:r>
              <a:rPr lang="en-US" dirty="0"/>
              <a:t>Deserialization of binary data format within client and middleware as per need</a:t>
            </a:r>
          </a:p>
        </p:txBody>
      </p:sp>
    </p:spTree>
    <p:extLst>
      <p:ext uri="{BB962C8B-B14F-4D97-AF65-F5344CB8AC3E}">
        <p14:creationId xmlns:p14="http://schemas.microsoft.com/office/powerpoint/2010/main" val="1508532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ECBD3-90D3-6D37-51C4-B19348C4E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Communication: Middleware-to-Databases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6BEC9B-94C0-7C40-E6CE-4BCBBB8E5384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80490" y="1185474"/>
            <a:ext cx="8783998" cy="3591314"/>
          </a:xfrm>
        </p:spPr>
        <p:txBody>
          <a:bodyPr/>
          <a:lstStyle/>
          <a:p>
            <a:pPr marL="701675" lvl="2" indent="-342900" algn="just"/>
            <a:r>
              <a:rPr lang="en-US" dirty="0"/>
              <a:t>Based on request-response communication model with pipelining support</a:t>
            </a:r>
          </a:p>
          <a:p>
            <a:pPr marL="701675" lvl="2" indent="-342900" algn="just"/>
            <a:r>
              <a:rPr lang="en-US" dirty="0"/>
              <a:t>Middleware predefines remote redis databases and connection configurations (URLs, Ports, and Authentication)</a:t>
            </a:r>
          </a:p>
          <a:p>
            <a:pPr marL="701675" lvl="2" indent="-342900" algn="just"/>
            <a:r>
              <a:rPr lang="en-US" dirty="0"/>
              <a:t>Middleware uses redis-</a:t>
            </a:r>
            <a:r>
              <a:rPr lang="en-US" dirty="0" err="1"/>
              <a:t>py</a:t>
            </a:r>
            <a:r>
              <a:rPr lang="en-US" dirty="0"/>
              <a:t>: </a:t>
            </a:r>
          </a:p>
          <a:p>
            <a:pPr marL="881062" lvl="3" indent="-342900" algn="just">
              <a:buFont typeface="Arial" panose="020B0604020202020204" pitchFamily="34" charset="0"/>
              <a:buChar char="•"/>
            </a:pPr>
            <a:r>
              <a:rPr lang="en-US" dirty="0"/>
              <a:t>Python interface (library) for connecting to redis databases and communicating with them via python calls</a:t>
            </a:r>
          </a:p>
          <a:p>
            <a:pPr marL="881062" lvl="3" indent="-342900" algn="just">
              <a:buFont typeface="Arial" panose="020B0604020202020204" pitchFamily="34" charset="0"/>
              <a:buChar char="•"/>
            </a:pPr>
            <a:r>
              <a:rPr lang="en-US" dirty="0"/>
              <a:t>Encapsulates TCP connection to redis databases to port 6379 (default)</a:t>
            </a:r>
          </a:p>
          <a:p>
            <a:pPr marL="881062" lvl="3" indent="-342900" algn="just">
              <a:buFont typeface="Arial" panose="020B0604020202020204" pitchFamily="34" charset="0"/>
              <a:buChar char="•"/>
            </a:pPr>
            <a:r>
              <a:rPr lang="en-US" dirty="0"/>
              <a:t>Sends raw (bytes-serialized) data using </a:t>
            </a:r>
            <a:r>
              <a:rPr lang="en-US" b="1" dirty="0"/>
              <a:t>RESP</a:t>
            </a:r>
            <a:r>
              <a:rPr lang="en-US" dirty="0"/>
              <a:t> (REdis Serialization Protocol) and receives raw reply, and parses back into a python native object (byte and string)</a:t>
            </a:r>
          </a:p>
          <a:p>
            <a:pPr marL="538162" lvl="3" indent="0" algn="just">
              <a:buNone/>
            </a:pPr>
            <a:endParaRPr lang="en-US" dirty="0"/>
          </a:p>
          <a:p>
            <a:pPr marL="701675" lvl="2" indent="-342900" algn="just"/>
            <a:endParaRPr lang="en-US" dirty="0"/>
          </a:p>
          <a:p>
            <a:pPr marL="701675" lvl="2" indent="-342900" algn="just"/>
            <a:endParaRPr lang="en-US" dirty="0"/>
          </a:p>
          <a:p>
            <a:pPr marL="342900" lvl="1" indent="-342900" algn="just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922406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45317-5D8F-AA46-12DF-EDE137A08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Middleware Architecture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84AFB37-D08D-96C5-99EE-2772BAD741EF}"/>
              </a:ext>
            </a:extLst>
          </p:cNvPr>
          <p:cNvSpPr/>
          <p:nvPr/>
        </p:nvSpPr>
        <p:spPr>
          <a:xfrm>
            <a:off x="251520" y="1203598"/>
            <a:ext cx="8640960" cy="3456384"/>
          </a:xfrm>
          <a:prstGeom prst="roundRect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E68B76-D23D-2B3E-F53B-6E8BF097826B}"/>
              </a:ext>
            </a:extLst>
          </p:cNvPr>
          <p:cNvSpPr/>
          <p:nvPr/>
        </p:nvSpPr>
        <p:spPr>
          <a:xfrm>
            <a:off x="503548" y="2319722"/>
            <a:ext cx="1332148" cy="129614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gRPC Service Listener</a:t>
            </a:r>
            <a:endParaRPr lang="en-DE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D0C61A-009A-4B5D-920A-F01E13C031BE}"/>
              </a:ext>
            </a:extLst>
          </p:cNvPr>
          <p:cNvSpPr/>
          <p:nvPr/>
        </p:nvSpPr>
        <p:spPr>
          <a:xfrm>
            <a:off x="6165297" y="3651870"/>
            <a:ext cx="2376264" cy="7353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DE" sz="1400" dirty="0"/>
              <a:t>Shard</a:t>
            </a:r>
            <a:r>
              <a:rPr lang="en-US" sz="1400" dirty="0"/>
              <a:t> Management</a:t>
            </a:r>
            <a:endParaRPr lang="en-DE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4B337C-F4F2-3C61-7FC2-14E269E4599B}"/>
              </a:ext>
            </a:extLst>
          </p:cNvPr>
          <p:cNvSpPr/>
          <p:nvPr/>
        </p:nvSpPr>
        <p:spPr>
          <a:xfrm>
            <a:off x="6165297" y="1491630"/>
            <a:ext cx="2376264" cy="72008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DE" sz="1400" dirty="0"/>
              <a:t>Query Routing and Result Compilation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962FD3-6336-2372-87E1-4652AD669DA8}"/>
              </a:ext>
            </a:extLst>
          </p:cNvPr>
          <p:cNvSpPr/>
          <p:nvPr/>
        </p:nvSpPr>
        <p:spPr>
          <a:xfrm>
            <a:off x="3275856" y="2607754"/>
            <a:ext cx="2376264" cy="720080"/>
          </a:xfrm>
          <a:prstGeom prst="rect">
            <a:avLst/>
          </a:prstGeom>
          <a:ln>
            <a:solidFill>
              <a:srgbClr val="F5A3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Redis Communication Interface</a:t>
            </a:r>
            <a:endParaRPr lang="en-DE" sz="1400" dirty="0"/>
          </a:p>
        </p:txBody>
      </p:sp>
      <p:sp>
        <p:nvSpPr>
          <p:cNvPr id="10" name="Right Bracket 9">
            <a:extLst>
              <a:ext uri="{FF2B5EF4-FFF2-40B4-BE49-F238E27FC236}">
                <a16:creationId xmlns:a16="http://schemas.microsoft.com/office/drawing/2014/main" id="{56A4791A-1CC5-60EA-3044-FC67FFE2B99B}"/>
              </a:ext>
            </a:extLst>
          </p:cNvPr>
          <p:cNvSpPr/>
          <p:nvPr/>
        </p:nvSpPr>
        <p:spPr>
          <a:xfrm>
            <a:off x="143508" y="2211710"/>
            <a:ext cx="360040" cy="1512168"/>
          </a:xfrm>
          <a:prstGeom prst="rightBracket">
            <a:avLst/>
          </a:prstGeom>
          <a:ln>
            <a:solidFill>
              <a:srgbClr val="FFCC00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6DFA9A5-6DB6-FE0E-B56F-1F8C6BF595C5}"/>
              </a:ext>
            </a:extLst>
          </p:cNvPr>
          <p:cNvCxnSpPr>
            <a:stCxn id="9" idx="2"/>
            <a:endCxn id="5" idx="1"/>
          </p:cNvCxnSpPr>
          <p:nvPr/>
        </p:nvCxnSpPr>
        <p:spPr>
          <a:xfrm rot="16200000" flipH="1">
            <a:off x="4968779" y="2823042"/>
            <a:ext cx="691727" cy="170130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964BC80-8506-89D9-AA3F-8F687D8D75CA}"/>
              </a:ext>
            </a:extLst>
          </p:cNvPr>
          <p:cNvCxnSpPr>
            <a:stCxn id="9" idx="0"/>
            <a:endCxn id="6" idx="1"/>
          </p:cNvCxnSpPr>
          <p:nvPr/>
        </p:nvCxnSpPr>
        <p:spPr>
          <a:xfrm rot="5400000" flipH="1" flipV="1">
            <a:off x="4936600" y="1379058"/>
            <a:ext cx="756084" cy="170130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23A5689-BCAB-353F-F2C5-078E7EA43F21}"/>
              </a:ext>
            </a:extLst>
          </p:cNvPr>
          <p:cNvSpPr txBox="1"/>
          <p:nvPr/>
        </p:nvSpPr>
        <p:spPr>
          <a:xfrm>
            <a:off x="2051720" y="2715766"/>
            <a:ext cx="1008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Calls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BE38454-9AF7-878D-9D92-5BCE8BC0745D}"/>
              </a:ext>
            </a:extLst>
          </p:cNvPr>
          <p:cNvCxnSpPr>
            <a:stCxn id="3" idx="3"/>
            <a:endCxn id="9" idx="1"/>
          </p:cNvCxnSpPr>
          <p:nvPr/>
        </p:nvCxnSpPr>
        <p:spPr>
          <a:xfrm>
            <a:off x="1835696" y="2967794"/>
            <a:ext cx="14401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26A5C74-3CE8-9DD1-3EA3-C14C5AD23178}"/>
              </a:ext>
            </a:extLst>
          </p:cNvPr>
          <p:cNvSpPr txBox="1"/>
          <p:nvPr/>
        </p:nvSpPr>
        <p:spPr>
          <a:xfrm>
            <a:off x="4803875" y="1582471"/>
            <a:ext cx="1008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Manages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33911E-4DC7-EBB0-B8E2-7782FD0F5083}"/>
              </a:ext>
            </a:extLst>
          </p:cNvPr>
          <p:cNvSpPr txBox="1"/>
          <p:nvPr/>
        </p:nvSpPr>
        <p:spPr>
          <a:xfrm>
            <a:off x="4810587" y="3746451"/>
            <a:ext cx="1008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Has</a:t>
            </a:r>
          </a:p>
        </p:txBody>
      </p:sp>
    </p:spTree>
    <p:extLst>
      <p:ext uri="{BB962C8B-B14F-4D97-AF65-F5344CB8AC3E}">
        <p14:creationId xmlns:p14="http://schemas.microsoft.com/office/powerpoint/2010/main" val="21565700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EB3CA-0294-FD62-2FE4-76005C483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Middleware Main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B929F8-127F-CFEF-FBF0-5E46DCF1777E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gRPC Service Listener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Redis Communication Interface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Query Routing and Result Compilation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Shard Management</a:t>
            </a:r>
          </a:p>
        </p:txBody>
      </p:sp>
    </p:spTree>
    <p:extLst>
      <p:ext uri="{BB962C8B-B14F-4D97-AF65-F5344CB8AC3E}">
        <p14:creationId xmlns:p14="http://schemas.microsoft.com/office/powerpoint/2010/main" val="23597100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EB3CA-0294-FD62-2FE4-76005C483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Middleware Design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B929F8-127F-CFEF-FBF0-5E46DCF1777E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dirty="0"/>
              <a:t>gRPC Service Listener:</a:t>
            </a:r>
          </a:p>
          <a:p>
            <a:pPr marL="644525" lvl="2" indent="-285750"/>
            <a:r>
              <a:rPr lang="en-US" dirty="0"/>
              <a:t>Listens to incoming Proto request from client </a:t>
            </a:r>
            <a:r>
              <a:rPr lang="en-US" dirty="0" err="1"/>
              <a:t>gRPC</a:t>
            </a:r>
            <a:r>
              <a:rPr lang="en-US" dirty="0"/>
              <a:t> stubs</a:t>
            </a:r>
          </a:p>
          <a:p>
            <a:pPr marL="644525" lvl="2" indent="-285750"/>
            <a:r>
              <a:rPr lang="en-US" dirty="0"/>
              <a:t>Parses incoming requests into python native objects</a:t>
            </a:r>
          </a:p>
          <a:p>
            <a:pPr marL="644525" lvl="2" indent="-285750"/>
            <a:r>
              <a:rPr lang="en-US" dirty="0"/>
              <a:t>Calls </a:t>
            </a:r>
            <a:r>
              <a:rPr lang="en-US" dirty="0" err="1"/>
              <a:t>redis</a:t>
            </a:r>
            <a:r>
              <a:rPr lang="en-US" dirty="0"/>
              <a:t> python interface with generated native objects as arguments</a:t>
            </a:r>
          </a:p>
          <a:p>
            <a:pPr marL="644525" lvl="2" indent="-285750"/>
            <a:r>
              <a:rPr lang="en-US" dirty="0"/>
              <a:t>Receives responses from </a:t>
            </a:r>
            <a:r>
              <a:rPr lang="en-US" dirty="0" err="1"/>
              <a:t>redis</a:t>
            </a:r>
            <a:r>
              <a:rPr lang="en-US" dirty="0"/>
              <a:t> python interface</a:t>
            </a:r>
          </a:p>
          <a:p>
            <a:pPr marL="644525" lvl="2" indent="-285750"/>
            <a:r>
              <a:rPr lang="en-US" dirty="0"/>
              <a:t>Parses </a:t>
            </a:r>
            <a:r>
              <a:rPr lang="en-US" dirty="0" err="1"/>
              <a:t>redis</a:t>
            </a:r>
            <a:r>
              <a:rPr lang="en-US" dirty="0"/>
              <a:t> responses to Proto responses</a:t>
            </a:r>
          </a:p>
          <a:p>
            <a:pPr marL="644525" lvl="2" indent="-285750"/>
            <a:r>
              <a:rPr lang="en-US" dirty="0"/>
              <a:t>Sends Proto responses to client </a:t>
            </a:r>
            <a:r>
              <a:rPr lang="en-US" dirty="0" err="1"/>
              <a:t>gRPC</a:t>
            </a:r>
            <a:r>
              <a:rPr lang="en-US" dirty="0"/>
              <a:t> stubs</a:t>
            </a:r>
          </a:p>
          <a:p>
            <a:pPr marL="644525" lvl="2" indent="-285750"/>
            <a:endParaRPr lang="en-US" dirty="0"/>
          </a:p>
          <a:p>
            <a:pPr marL="644525" lvl="2" indent="-285750"/>
            <a:endParaRPr lang="en-US" dirty="0"/>
          </a:p>
          <a:p>
            <a:pPr marL="815975" lvl="2" indent="-457200">
              <a:buFont typeface="Wingdings" panose="05000000000000000000" pitchFamily="2" charset="2"/>
              <a:buChar char="Ø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84041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EB3CA-0294-FD62-2FE4-76005C483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Middleware Design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B929F8-127F-CFEF-FBF0-5E46DCF1777E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dirty="0"/>
              <a:t>Redis Communication Interface:</a:t>
            </a:r>
          </a:p>
          <a:p>
            <a:pPr marL="701675" lvl="2" indent="-342900" algn="just"/>
            <a:r>
              <a:rPr lang="en-US" dirty="0"/>
              <a:t>Leverages </a:t>
            </a:r>
            <a:r>
              <a:rPr lang="en-US" dirty="0" err="1"/>
              <a:t>redis-py</a:t>
            </a:r>
            <a:r>
              <a:rPr lang="en-US" dirty="0"/>
              <a:t> python library to communicate with </a:t>
            </a:r>
            <a:r>
              <a:rPr lang="en-US" dirty="0" err="1"/>
              <a:t>redis</a:t>
            </a:r>
            <a:r>
              <a:rPr lang="en-US" dirty="0"/>
              <a:t> databases</a:t>
            </a:r>
          </a:p>
          <a:p>
            <a:pPr marL="701675" lvl="2" indent="-342900" algn="just"/>
            <a:r>
              <a:rPr lang="en-US" dirty="0"/>
              <a:t>Initializes communication configurations:</a:t>
            </a:r>
          </a:p>
          <a:p>
            <a:pPr marL="881062" lvl="3" indent="-342900" algn="just">
              <a:buFont typeface="Arial" panose="020B0604020202020204" pitchFamily="34" charset="0"/>
              <a:buChar char="•"/>
            </a:pPr>
            <a:r>
              <a:rPr lang="en-US" dirty="0"/>
              <a:t>Identifier of databases (URLs)</a:t>
            </a:r>
          </a:p>
          <a:p>
            <a:pPr marL="881062" lvl="3" indent="-342900" algn="just">
              <a:buFont typeface="Arial" panose="020B0604020202020204" pitchFamily="34" charset="0"/>
              <a:buChar char="•"/>
            </a:pPr>
            <a:r>
              <a:rPr lang="en-US" dirty="0"/>
              <a:t>Connection ports of </a:t>
            </a:r>
            <a:r>
              <a:rPr lang="en-US" dirty="0" err="1"/>
              <a:t>redis</a:t>
            </a:r>
            <a:r>
              <a:rPr lang="en-US" dirty="0"/>
              <a:t> databases</a:t>
            </a:r>
          </a:p>
          <a:p>
            <a:pPr marL="881062" lvl="3" indent="-342900" algn="just">
              <a:buFont typeface="Arial" panose="020B0604020202020204" pitchFamily="34" charset="0"/>
              <a:buChar char="•"/>
            </a:pPr>
            <a:r>
              <a:rPr lang="en-US" dirty="0"/>
              <a:t>Connection Pool and </a:t>
            </a:r>
            <a:r>
              <a:rPr lang="en-US" dirty="0" err="1"/>
              <a:t>StrictRedis</a:t>
            </a:r>
            <a:r>
              <a:rPr lang="en-US" dirty="0"/>
              <a:t> Protocol</a:t>
            </a:r>
          </a:p>
          <a:p>
            <a:pPr marL="881062" lvl="3" indent="-342900" algn="just">
              <a:buFont typeface="Arial" panose="020B0604020202020204" pitchFamily="34" charset="0"/>
              <a:buChar char="•"/>
            </a:pPr>
            <a:r>
              <a:rPr lang="en-US" dirty="0"/>
              <a:t>Decode responses</a:t>
            </a:r>
          </a:p>
          <a:p>
            <a:pPr marL="701675" lvl="2" indent="-342900" algn="just"/>
            <a:r>
              <a:rPr lang="en-US" dirty="0"/>
              <a:t>Provides an interface for all database operation calls (set, get, get-range, delete, key-space-info)</a:t>
            </a:r>
          </a:p>
          <a:p>
            <a:pPr marL="701675" lvl="2" indent="-342900" algn="just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76502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EB3CA-0294-FD62-2FE4-76005C483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Middleware Design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B929F8-127F-CFEF-FBF0-5E46DCF1777E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dirty="0"/>
              <a:t>Query Routing and Result Compilation:</a:t>
            </a:r>
          </a:p>
          <a:p>
            <a:pPr marL="701675" lvl="2" indent="-342900">
              <a:buFont typeface="Wingdings" panose="05000000000000000000" pitchFamily="2" charset="2"/>
              <a:buChar char="Ø"/>
            </a:pPr>
            <a:r>
              <a:rPr lang="en-US" dirty="0"/>
              <a:t>Forward queries to designated databases (sites)</a:t>
            </a:r>
          </a:p>
          <a:p>
            <a:pPr marL="701675" lvl="2" indent="-342900">
              <a:buFont typeface="Wingdings" panose="05000000000000000000" pitchFamily="2" charset="2"/>
              <a:buChar char="Ø"/>
            </a:pPr>
            <a:r>
              <a:rPr lang="en-US" dirty="0"/>
              <a:t>Get results from multiple sites and aggregate into a singe result</a:t>
            </a:r>
          </a:p>
          <a:p>
            <a:pPr marL="701675" lvl="2" indent="-342900">
              <a:buFont typeface="Wingdings" panose="05000000000000000000" pitchFamily="2" charset="2"/>
              <a:buChar char="Ø"/>
            </a:pPr>
            <a:endParaRPr lang="en-US" dirty="0"/>
          </a:p>
          <a:p>
            <a:pPr marL="701675" lvl="2" indent="-342900">
              <a:buFont typeface="Wingdings" panose="05000000000000000000" pitchFamily="2" charset="2"/>
              <a:buChar char="Ø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22987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EF403-EE0F-89C5-3D80-28516B180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Middleware Design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FB147-07F2-A9D0-906D-52BCB4198DE8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dirty="0"/>
              <a:t>Shard Management:</a:t>
            </a:r>
          </a:p>
          <a:p>
            <a:pPr marL="701675" lvl="2" indent="-342900"/>
            <a:r>
              <a:rPr lang="en-US" dirty="0"/>
              <a:t>Adds and removes number of databases (sites) as needed during initial configuration</a:t>
            </a:r>
          </a:p>
          <a:p>
            <a:pPr marL="701675" lvl="2" indent="-342900"/>
            <a:r>
              <a:rPr lang="en-US" dirty="0"/>
              <a:t>Gets appropriate site’s URL based on hashed key (shard key) and sharding algorithm</a:t>
            </a:r>
          </a:p>
          <a:p>
            <a:pPr marL="342900" lvl="1" indent="-342900">
              <a:buFont typeface="Wingdings" panose="05000000000000000000" pitchFamily="2" charset="2"/>
              <a:buChar char="Ø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34898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33780-E05D-662D-54D6-3097FC98E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Sharded Distributed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C1F28-3F3E-3FFB-3BED-6C0ACFA12B74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dirty="0"/>
              <a:t>Step 1: Fragmentation of Data (Sharding)</a:t>
            </a:r>
          </a:p>
          <a:p>
            <a:pPr marL="644525" lvl="2" indent="-285750"/>
            <a:r>
              <a:rPr lang="en-US" dirty="0"/>
              <a:t>Divide large set of data based on unique key (shard key) into smaller fragments/chunks, called shards</a:t>
            </a:r>
          </a:p>
          <a:p>
            <a:pPr marL="644525" lvl="2" indent="-285750"/>
            <a:endParaRPr lang="en-US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dirty="0"/>
              <a:t>Step 2: Allocation of Shards to Sites</a:t>
            </a:r>
          </a:p>
          <a:p>
            <a:pPr marL="701675" lvl="2" indent="-342900"/>
            <a:r>
              <a:rPr lang="en-US" dirty="0"/>
              <a:t>Decide on which database server (site) to put each shard</a:t>
            </a:r>
          </a:p>
        </p:txBody>
      </p:sp>
    </p:spTree>
    <p:extLst>
      <p:ext uri="{BB962C8B-B14F-4D97-AF65-F5344CB8AC3E}">
        <p14:creationId xmlns:p14="http://schemas.microsoft.com/office/powerpoint/2010/main" val="39802729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2D2BB-F690-FB18-08EB-CDA5416D8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Sharding Design (Consistent Hashing)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3DA89-A91C-3E16-020D-8B7780261CE7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en-US" sz="1800" dirty="0"/>
              <a:t>Efficient and nearly uniform distribution of data among multiple databases (sites), using hash ring concept</a:t>
            </a: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en-US" sz="1800" dirty="0"/>
              <a:t>Map every site to a point on a circle:</a:t>
            </a:r>
          </a:p>
          <a:p>
            <a:pPr marL="701675" lvl="2" indent="-342900" algn="just"/>
            <a:r>
              <a:rPr lang="en-US" sz="1600" dirty="0"/>
              <a:t>Location of site: Hash of database’s identifier (h[x]) to a point on a circle ( h[x] % 360)</a:t>
            </a:r>
          </a:p>
          <a:p>
            <a:pPr marL="342900" indent="-342900" algn="just">
              <a:buFont typeface="Wingdings" panose="05000000000000000000" pitchFamily="2" charset="2"/>
              <a:buChar char="§"/>
            </a:pPr>
            <a:r>
              <a:rPr lang="en-US" sz="1800" dirty="0"/>
              <a:t>Hash every key using same hashing function</a:t>
            </a:r>
          </a:p>
          <a:p>
            <a:pPr marL="701675" lvl="2" indent="-342900" algn="just"/>
            <a:r>
              <a:rPr lang="en-US" sz="1600" dirty="0"/>
              <a:t>Assigning data to sites: For every hashed key, move in a clockwise direction to find the nearest site, where the data should be stored</a:t>
            </a:r>
          </a:p>
        </p:txBody>
      </p:sp>
    </p:spTree>
    <p:extLst>
      <p:ext uri="{BB962C8B-B14F-4D97-AF65-F5344CB8AC3E}">
        <p14:creationId xmlns:p14="http://schemas.microsoft.com/office/powerpoint/2010/main" val="3458134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FF603-66AC-F619-A7AF-5B652DD64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Consistent Hashing (1)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E69FB58C-7C4F-A38E-4ED1-C357A630EAC0}"/>
              </a:ext>
            </a:extLst>
          </p:cNvPr>
          <p:cNvSpPr/>
          <p:nvPr/>
        </p:nvSpPr>
        <p:spPr>
          <a:xfrm>
            <a:off x="1026711" y="1501623"/>
            <a:ext cx="3240360" cy="3024336"/>
          </a:xfrm>
          <a:prstGeom prst="flowChartConnector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Graphic 10" descr="Database with solid fill">
            <a:extLst>
              <a:ext uri="{FF2B5EF4-FFF2-40B4-BE49-F238E27FC236}">
                <a16:creationId xmlns:a16="http://schemas.microsoft.com/office/drawing/2014/main" id="{98C80738-E7CA-F332-73F7-4BD4662B6E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37070" y="1820530"/>
            <a:ext cx="579282" cy="579282"/>
          </a:xfrm>
          <a:prstGeom prst="rect">
            <a:avLst/>
          </a:prstGeom>
          <a:effectLst/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E8751A8-5184-F582-C354-B8812CEE8C24}"/>
              </a:ext>
            </a:extLst>
          </p:cNvPr>
          <p:cNvSpPr txBox="1"/>
          <p:nvPr/>
        </p:nvSpPr>
        <p:spPr>
          <a:xfrm>
            <a:off x="3798939" y="2796158"/>
            <a:ext cx="531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H[</a:t>
            </a:r>
            <a:r>
              <a:rPr lang="en-US" sz="1100" b="1" dirty="0"/>
              <a:t>S</a:t>
            </a:r>
            <a:r>
              <a:rPr lang="en-US" sz="1100" b="1" baseline="-25000" dirty="0"/>
              <a:t>0</a:t>
            </a:r>
            <a:r>
              <a:rPr lang="en-US" sz="1100" dirty="0"/>
              <a:t>]</a:t>
            </a:r>
            <a:endParaRPr lang="en-US" sz="1100" baseline="-25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47A07A-C922-706A-AE83-CAD463E68756}"/>
              </a:ext>
            </a:extLst>
          </p:cNvPr>
          <p:cNvSpPr txBox="1"/>
          <p:nvPr/>
        </p:nvSpPr>
        <p:spPr>
          <a:xfrm>
            <a:off x="1190781" y="2197128"/>
            <a:ext cx="531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H[</a:t>
            </a:r>
            <a:r>
              <a:rPr lang="en-US" sz="1100" b="1" dirty="0"/>
              <a:t>S</a:t>
            </a:r>
            <a:r>
              <a:rPr lang="en-US" sz="1100" b="1" baseline="-25000" dirty="0"/>
              <a:t>2</a:t>
            </a:r>
            <a:r>
              <a:rPr lang="en-US" sz="1100" dirty="0"/>
              <a:t>]</a:t>
            </a:r>
            <a:endParaRPr lang="en-US" sz="1100" baseline="-25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5309A4-4470-D779-841B-64042DDE6FB3}"/>
              </a:ext>
            </a:extLst>
          </p:cNvPr>
          <p:cNvSpPr txBox="1"/>
          <p:nvPr/>
        </p:nvSpPr>
        <p:spPr>
          <a:xfrm>
            <a:off x="3156540" y="4414583"/>
            <a:ext cx="531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H[</a:t>
            </a:r>
            <a:r>
              <a:rPr lang="en-US" sz="1100" b="1" dirty="0"/>
              <a:t>S</a:t>
            </a:r>
            <a:r>
              <a:rPr lang="en-US" sz="1100" b="1" baseline="-25000" dirty="0"/>
              <a:t>1</a:t>
            </a:r>
            <a:r>
              <a:rPr lang="en-US" sz="1100" dirty="0"/>
              <a:t>]</a:t>
            </a:r>
            <a:endParaRPr lang="en-US" sz="1100" baseline="-25000" dirty="0"/>
          </a:p>
        </p:txBody>
      </p:sp>
      <p:pic>
        <p:nvPicPr>
          <p:cNvPr id="24" name="Graphic 23" descr="Database with solid fill">
            <a:extLst>
              <a:ext uri="{FF2B5EF4-FFF2-40B4-BE49-F238E27FC236}">
                <a16:creationId xmlns:a16="http://schemas.microsoft.com/office/drawing/2014/main" id="{66252FA9-4004-7B08-7145-40660510CB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136734" y="2506517"/>
            <a:ext cx="579282" cy="579282"/>
          </a:xfrm>
          <a:prstGeom prst="rect">
            <a:avLst/>
          </a:prstGeom>
          <a:effectLst/>
        </p:spPr>
      </p:pic>
      <p:pic>
        <p:nvPicPr>
          <p:cNvPr id="25" name="Graphic 24" descr="Database with solid fill">
            <a:extLst>
              <a:ext uri="{FF2B5EF4-FFF2-40B4-BE49-F238E27FC236}">
                <a16:creationId xmlns:a16="http://schemas.microsoft.com/office/drawing/2014/main" id="{A80EB45A-99DD-F4D4-1268-89FE979EE3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045047" y="3907895"/>
            <a:ext cx="579282" cy="579282"/>
          </a:xfrm>
          <a:prstGeom prst="rect">
            <a:avLst/>
          </a:prstGeom>
          <a:effectLst/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C7613506-10CD-53A9-C74C-757EEA1404F6}"/>
              </a:ext>
            </a:extLst>
          </p:cNvPr>
          <p:cNvSpPr txBox="1"/>
          <p:nvPr/>
        </p:nvSpPr>
        <p:spPr>
          <a:xfrm>
            <a:off x="3693020" y="1604730"/>
            <a:ext cx="531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H[K</a:t>
            </a:r>
            <a:r>
              <a:rPr lang="en-US" sz="1100" baseline="-25000" dirty="0"/>
              <a:t>0</a:t>
            </a:r>
            <a:r>
              <a:rPr lang="en-US" sz="1100" dirty="0"/>
              <a:t>]</a:t>
            </a:r>
            <a:endParaRPr lang="en-US" sz="1100" baseline="-25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3CF7C5A-9378-B9E9-6E85-43E40B289717}"/>
              </a:ext>
            </a:extLst>
          </p:cNvPr>
          <p:cNvSpPr txBox="1"/>
          <p:nvPr/>
        </p:nvSpPr>
        <p:spPr>
          <a:xfrm>
            <a:off x="4102455" y="2073099"/>
            <a:ext cx="531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H[K</a:t>
            </a:r>
            <a:r>
              <a:rPr lang="en-US" sz="1100" baseline="-25000" dirty="0"/>
              <a:t>1</a:t>
            </a:r>
            <a:r>
              <a:rPr lang="en-US" sz="1100" dirty="0"/>
              <a:t>]</a:t>
            </a:r>
            <a:endParaRPr lang="en-US" sz="1100" baseline="-25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F9A349-F17A-D474-4C08-FAFF7E0950DF}"/>
              </a:ext>
            </a:extLst>
          </p:cNvPr>
          <p:cNvSpPr txBox="1"/>
          <p:nvPr/>
        </p:nvSpPr>
        <p:spPr>
          <a:xfrm>
            <a:off x="3734302" y="4147560"/>
            <a:ext cx="531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H[K</a:t>
            </a:r>
            <a:r>
              <a:rPr lang="en-US" sz="1100" baseline="-25000" dirty="0"/>
              <a:t>2</a:t>
            </a:r>
            <a:r>
              <a:rPr lang="en-US" sz="1100" dirty="0"/>
              <a:t>]</a:t>
            </a:r>
            <a:endParaRPr lang="en-US" sz="1100" baseline="-25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6B8888-7B2C-21BC-9C19-DAA382B730FA}"/>
              </a:ext>
            </a:extLst>
          </p:cNvPr>
          <p:cNvSpPr txBox="1"/>
          <p:nvPr/>
        </p:nvSpPr>
        <p:spPr>
          <a:xfrm>
            <a:off x="1214489" y="4264173"/>
            <a:ext cx="531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H[K</a:t>
            </a:r>
            <a:r>
              <a:rPr lang="en-US" sz="1100" baseline="-25000" dirty="0"/>
              <a:t>4</a:t>
            </a:r>
            <a:r>
              <a:rPr lang="en-US" sz="1100" dirty="0"/>
              <a:t>]</a:t>
            </a:r>
            <a:endParaRPr lang="en-US" sz="1100" baseline="-25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B2A9882-824C-DC1B-0460-1DC37735EE58}"/>
              </a:ext>
            </a:extLst>
          </p:cNvPr>
          <p:cNvSpPr txBox="1"/>
          <p:nvPr/>
        </p:nvSpPr>
        <p:spPr>
          <a:xfrm>
            <a:off x="482152" y="3013791"/>
            <a:ext cx="531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H[K</a:t>
            </a:r>
            <a:r>
              <a:rPr lang="en-US" sz="1100" baseline="-25000" dirty="0"/>
              <a:t>6</a:t>
            </a:r>
            <a:r>
              <a:rPr lang="en-US" sz="1100" dirty="0"/>
              <a:t>]</a:t>
            </a:r>
            <a:endParaRPr lang="en-US" sz="1100" baseline="-25000" dirty="0"/>
          </a:p>
        </p:txBody>
      </p:sp>
      <p:sp>
        <p:nvSpPr>
          <p:cNvPr id="19" name="Gelijkbenige driehoek 18">
            <a:extLst>
              <a:ext uri="{FF2B5EF4-FFF2-40B4-BE49-F238E27FC236}">
                <a16:creationId xmlns:a16="http://schemas.microsoft.com/office/drawing/2014/main" id="{0357FAF3-E2E7-4F0F-B890-263ED8890D05}"/>
              </a:ext>
            </a:extLst>
          </p:cNvPr>
          <p:cNvSpPr/>
          <p:nvPr/>
        </p:nvSpPr>
        <p:spPr>
          <a:xfrm rot="2923878">
            <a:off x="3656648" y="4128807"/>
            <a:ext cx="182880" cy="0"/>
          </a:xfrm>
          <a:prstGeom prst="triangle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endParaRPr lang="fr-FR">
              <a:solidFill>
                <a:srgbClr val="000000"/>
              </a:solidFill>
            </a:endParaRPr>
          </a:p>
        </p:txBody>
      </p:sp>
      <p:sp>
        <p:nvSpPr>
          <p:cNvPr id="47" name="Gelijkbenige driehoek 18">
            <a:extLst>
              <a:ext uri="{FF2B5EF4-FFF2-40B4-BE49-F238E27FC236}">
                <a16:creationId xmlns:a16="http://schemas.microsoft.com/office/drawing/2014/main" id="{275CC2F1-BCC3-E12E-0360-94EE35D2F522}"/>
              </a:ext>
            </a:extLst>
          </p:cNvPr>
          <p:cNvSpPr/>
          <p:nvPr/>
        </p:nvSpPr>
        <p:spPr>
          <a:xfrm rot="18739036">
            <a:off x="1576144" y="4220021"/>
            <a:ext cx="182880" cy="0"/>
          </a:xfrm>
          <a:prstGeom prst="triangle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endParaRPr lang="fr-FR">
              <a:solidFill>
                <a:srgbClr val="000000"/>
              </a:solidFill>
            </a:endParaRPr>
          </a:p>
        </p:txBody>
      </p:sp>
      <p:sp>
        <p:nvSpPr>
          <p:cNvPr id="48" name="Gelijkbenige driehoek 18">
            <a:extLst>
              <a:ext uri="{FF2B5EF4-FFF2-40B4-BE49-F238E27FC236}">
                <a16:creationId xmlns:a16="http://schemas.microsoft.com/office/drawing/2014/main" id="{B71CCFEB-8026-01F4-2361-782569F05CDC}"/>
              </a:ext>
            </a:extLst>
          </p:cNvPr>
          <p:cNvSpPr/>
          <p:nvPr/>
        </p:nvSpPr>
        <p:spPr>
          <a:xfrm>
            <a:off x="1013729" y="2571750"/>
            <a:ext cx="182880" cy="0"/>
          </a:xfrm>
          <a:prstGeom prst="triangle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endParaRPr lang="fr-FR">
              <a:solidFill>
                <a:srgbClr val="000000"/>
              </a:solidFill>
            </a:endParaRPr>
          </a:p>
        </p:txBody>
      </p:sp>
      <p:sp>
        <p:nvSpPr>
          <p:cNvPr id="49" name="Gelijkbenige driehoek 18">
            <a:extLst>
              <a:ext uri="{FF2B5EF4-FFF2-40B4-BE49-F238E27FC236}">
                <a16:creationId xmlns:a16="http://schemas.microsoft.com/office/drawing/2014/main" id="{B07BE291-D7EF-62F1-F518-C004CF76998A}"/>
              </a:ext>
            </a:extLst>
          </p:cNvPr>
          <p:cNvSpPr/>
          <p:nvPr/>
        </p:nvSpPr>
        <p:spPr>
          <a:xfrm rot="19627232">
            <a:off x="3968500" y="2300890"/>
            <a:ext cx="182880" cy="0"/>
          </a:xfrm>
          <a:prstGeom prst="triangle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endParaRPr lang="fr-FR">
              <a:solidFill>
                <a:srgbClr val="000000"/>
              </a:solidFill>
            </a:endParaRPr>
          </a:p>
        </p:txBody>
      </p:sp>
      <p:sp>
        <p:nvSpPr>
          <p:cNvPr id="50" name="Gelijkbenige driehoek 18">
            <a:extLst>
              <a:ext uri="{FF2B5EF4-FFF2-40B4-BE49-F238E27FC236}">
                <a16:creationId xmlns:a16="http://schemas.microsoft.com/office/drawing/2014/main" id="{307CDF29-CA80-1B62-EF6B-C621DF347998}"/>
              </a:ext>
            </a:extLst>
          </p:cNvPr>
          <p:cNvSpPr/>
          <p:nvPr/>
        </p:nvSpPr>
        <p:spPr>
          <a:xfrm rot="18964388">
            <a:off x="3591623" y="1872088"/>
            <a:ext cx="182880" cy="0"/>
          </a:xfrm>
          <a:prstGeom prst="triangle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endParaRPr lang="fr-FR">
              <a:solidFill>
                <a:srgbClr val="000000"/>
              </a:solidFill>
            </a:endParaRPr>
          </a:p>
        </p:txBody>
      </p:sp>
      <p:sp>
        <p:nvSpPr>
          <p:cNvPr id="51" name="Gelijkbenige driehoek 18">
            <a:extLst>
              <a:ext uri="{FF2B5EF4-FFF2-40B4-BE49-F238E27FC236}">
                <a16:creationId xmlns:a16="http://schemas.microsoft.com/office/drawing/2014/main" id="{3EE0D0AF-209F-74D7-3663-8337F66E91C3}"/>
              </a:ext>
            </a:extLst>
          </p:cNvPr>
          <p:cNvSpPr/>
          <p:nvPr/>
        </p:nvSpPr>
        <p:spPr>
          <a:xfrm>
            <a:off x="987896" y="3382781"/>
            <a:ext cx="182880" cy="0"/>
          </a:xfrm>
          <a:prstGeom prst="triangle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endParaRPr lang="fr-FR">
              <a:solidFill>
                <a:srgbClr val="000000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DEE558B-88F8-CE95-E399-FABA4DDDC6F2}"/>
              </a:ext>
            </a:extLst>
          </p:cNvPr>
          <p:cNvSpPr txBox="1"/>
          <p:nvPr/>
        </p:nvSpPr>
        <p:spPr>
          <a:xfrm>
            <a:off x="538035" y="3241355"/>
            <a:ext cx="531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H[K</a:t>
            </a:r>
            <a:r>
              <a:rPr lang="en-US" sz="1100" baseline="-25000" dirty="0"/>
              <a:t>5</a:t>
            </a:r>
            <a:r>
              <a:rPr lang="en-US" sz="1100" dirty="0"/>
              <a:t>]</a:t>
            </a:r>
            <a:endParaRPr lang="en-US" sz="1100" baseline="-25000" dirty="0"/>
          </a:p>
        </p:txBody>
      </p:sp>
      <p:graphicFrame>
        <p:nvGraphicFramePr>
          <p:cNvPr id="53" name="Table 53">
            <a:extLst>
              <a:ext uri="{FF2B5EF4-FFF2-40B4-BE49-F238E27FC236}">
                <a16:creationId xmlns:a16="http://schemas.microsoft.com/office/drawing/2014/main" id="{89F28D67-3B22-2D20-B58E-81D5FD4D41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3181497"/>
              </p:ext>
            </p:extLst>
          </p:nvPr>
        </p:nvGraphicFramePr>
        <p:xfrm>
          <a:off x="5369223" y="2241163"/>
          <a:ext cx="3279643" cy="1097280"/>
        </p:xfrm>
        <a:graphic>
          <a:graphicData uri="http://schemas.openxmlformats.org/drawingml/2006/table">
            <a:tbl>
              <a:tblPr firstRow="1" bandRow="1">
                <a:tableStyleId>{D27102A9-8310-4765-A935-A1911B00CA55}</a:tableStyleId>
              </a:tblPr>
              <a:tblGrid>
                <a:gridCol w="1285562">
                  <a:extLst>
                    <a:ext uri="{9D8B030D-6E8A-4147-A177-3AD203B41FA5}">
                      <a16:colId xmlns:a16="http://schemas.microsoft.com/office/drawing/2014/main" val="4058503580"/>
                    </a:ext>
                  </a:extLst>
                </a:gridCol>
                <a:gridCol w="1994081">
                  <a:extLst>
                    <a:ext uri="{9D8B030D-6E8A-4147-A177-3AD203B41FA5}">
                      <a16:colId xmlns:a16="http://schemas.microsoft.com/office/drawing/2014/main" val="3775725780"/>
                    </a:ext>
                  </a:extLst>
                </a:gridCol>
              </a:tblGrid>
              <a:tr h="220343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Sites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Keys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86955979"/>
                  </a:ext>
                </a:extLst>
              </a:tr>
              <a:tr h="220343">
                <a:tc>
                  <a:txBody>
                    <a:bodyPr/>
                    <a:lstStyle/>
                    <a:p>
                      <a:pPr algn="ctr"/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endParaRPr lang="en-US" sz="120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K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K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015025456"/>
                  </a:ext>
                </a:extLst>
              </a:tr>
              <a:tr h="2203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en-US" sz="120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167164546"/>
                  </a:ext>
                </a:extLst>
              </a:tr>
              <a:tr h="2203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en-US" sz="120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K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K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K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K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841353563"/>
                  </a:ext>
                </a:extLst>
              </a:tr>
            </a:tbl>
          </a:graphicData>
        </a:graphic>
      </p:graphicFrame>
      <p:sp>
        <p:nvSpPr>
          <p:cNvPr id="55" name="Arrow: Curved Down 54">
            <a:extLst>
              <a:ext uri="{FF2B5EF4-FFF2-40B4-BE49-F238E27FC236}">
                <a16:creationId xmlns:a16="http://schemas.microsoft.com/office/drawing/2014/main" id="{E5B64572-A671-6B80-8E8E-9DC5AE12F1B8}"/>
              </a:ext>
            </a:extLst>
          </p:cNvPr>
          <p:cNvSpPr/>
          <p:nvPr/>
        </p:nvSpPr>
        <p:spPr>
          <a:xfrm rot="3651209">
            <a:off x="4005256" y="2042967"/>
            <a:ext cx="1135222" cy="288122"/>
          </a:xfrm>
          <a:prstGeom prst="curvedDownArrow">
            <a:avLst>
              <a:gd name="adj1" fmla="val 0"/>
              <a:gd name="adj2" fmla="val 33148"/>
              <a:gd name="adj3" fmla="val 28475"/>
            </a:avLst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6" name="Arrow: Curved Down 55">
            <a:extLst>
              <a:ext uri="{FF2B5EF4-FFF2-40B4-BE49-F238E27FC236}">
                <a16:creationId xmlns:a16="http://schemas.microsoft.com/office/drawing/2014/main" id="{93590138-EA3D-7BB8-AECB-FFCBB15FF4E6}"/>
              </a:ext>
            </a:extLst>
          </p:cNvPr>
          <p:cNvSpPr/>
          <p:nvPr/>
        </p:nvSpPr>
        <p:spPr>
          <a:xfrm rot="4891438">
            <a:off x="4480499" y="2307799"/>
            <a:ext cx="716821" cy="467337"/>
          </a:xfrm>
          <a:prstGeom prst="curvedDownArrow">
            <a:avLst>
              <a:gd name="adj1" fmla="val 0"/>
              <a:gd name="adj2" fmla="val 20243"/>
              <a:gd name="adj3" fmla="val 17708"/>
            </a:avLst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7" name="Gelijkbenige driehoek 18">
            <a:extLst>
              <a:ext uri="{FF2B5EF4-FFF2-40B4-BE49-F238E27FC236}">
                <a16:creationId xmlns:a16="http://schemas.microsoft.com/office/drawing/2014/main" id="{45577E06-D59A-137A-BEEF-5A05BA5B41A2}"/>
              </a:ext>
            </a:extLst>
          </p:cNvPr>
          <p:cNvSpPr/>
          <p:nvPr/>
        </p:nvSpPr>
        <p:spPr>
          <a:xfrm rot="5400000">
            <a:off x="2210316" y="4501052"/>
            <a:ext cx="182880" cy="0"/>
          </a:xfrm>
          <a:prstGeom prst="triangle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endParaRPr lang="fr-FR">
              <a:solidFill>
                <a:srgbClr val="000000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F39EB99-DF00-518A-0EC4-F44798A32E6F}"/>
              </a:ext>
            </a:extLst>
          </p:cNvPr>
          <p:cNvSpPr txBox="1"/>
          <p:nvPr/>
        </p:nvSpPr>
        <p:spPr>
          <a:xfrm>
            <a:off x="2035967" y="4545388"/>
            <a:ext cx="531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H[K</a:t>
            </a:r>
            <a:r>
              <a:rPr lang="en-US" sz="1100" baseline="-25000" dirty="0"/>
              <a:t>3</a:t>
            </a:r>
            <a:r>
              <a:rPr lang="en-US" sz="1100" dirty="0"/>
              <a:t>]</a:t>
            </a:r>
            <a:endParaRPr lang="en-US" sz="1100" baseline="-25000" dirty="0"/>
          </a:p>
        </p:txBody>
      </p:sp>
      <p:sp>
        <p:nvSpPr>
          <p:cNvPr id="63" name="Gelijkbenige driehoek 18">
            <a:extLst>
              <a:ext uri="{FF2B5EF4-FFF2-40B4-BE49-F238E27FC236}">
                <a16:creationId xmlns:a16="http://schemas.microsoft.com/office/drawing/2014/main" id="{6C421B3E-B981-3DBB-3749-8F40D430843F}"/>
              </a:ext>
            </a:extLst>
          </p:cNvPr>
          <p:cNvSpPr/>
          <p:nvPr/>
        </p:nvSpPr>
        <p:spPr>
          <a:xfrm rot="2673757">
            <a:off x="1763688" y="1688084"/>
            <a:ext cx="182880" cy="0"/>
          </a:xfrm>
          <a:prstGeom prst="triangle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endParaRPr lang="fr-FR">
              <a:solidFill>
                <a:srgbClr val="0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20E9AA-A1CC-AD0D-E18C-394D470A725D}"/>
              </a:ext>
            </a:extLst>
          </p:cNvPr>
          <p:cNvSpPr txBox="1"/>
          <p:nvPr/>
        </p:nvSpPr>
        <p:spPr>
          <a:xfrm>
            <a:off x="1340234" y="1422186"/>
            <a:ext cx="531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H[K</a:t>
            </a:r>
            <a:r>
              <a:rPr lang="en-US" sz="1100" baseline="-25000" dirty="0"/>
              <a:t>8</a:t>
            </a:r>
            <a:r>
              <a:rPr lang="en-US" sz="1100" dirty="0"/>
              <a:t>]</a:t>
            </a:r>
            <a:endParaRPr lang="en-US" sz="1100" baseline="-25000" dirty="0"/>
          </a:p>
        </p:txBody>
      </p:sp>
      <p:sp>
        <p:nvSpPr>
          <p:cNvPr id="68" name="Gelijkbenige driehoek 18">
            <a:extLst>
              <a:ext uri="{FF2B5EF4-FFF2-40B4-BE49-F238E27FC236}">
                <a16:creationId xmlns:a16="http://schemas.microsoft.com/office/drawing/2014/main" id="{A97AC165-300E-3EDA-1062-46F31AAD55C2}"/>
              </a:ext>
            </a:extLst>
          </p:cNvPr>
          <p:cNvSpPr/>
          <p:nvPr/>
        </p:nvSpPr>
        <p:spPr>
          <a:xfrm>
            <a:off x="935271" y="3161917"/>
            <a:ext cx="182880" cy="0"/>
          </a:xfrm>
          <a:prstGeom prst="triangle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endParaRPr lang="fr-FR">
              <a:solidFill>
                <a:srgbClr val="000000"/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0F1F3FD-C2DE-B4ED-152F-4C036305C1ED}"/>
              </a:ext>
            </a:extLst>
          </p:cNvPr>
          <p:cNvSpPr txBox="1"/>
          <p:nvPr/>
        </p:nvSpPr>
        <p:spPr>
          <a:xfrm>
            <a:off x="564784" y="2439185"/>
            <a:ext cx="531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H[K</a:t>
            </a:r>
            <a:r>
              <a:rPr lang="en-US" sz="1100" baseline="-25000" dirty="0"/>
              <a:t>7</a:t>
            </a:r>
            <a:r>
              <a:rPr lang="en-US" sz="1100" dirty="0"/>
              <a:t>]</a:t>
            </a:r>
            <a:endParaRPr lang="en-US" sz="1100" baseline="-25000" dirty="0"/>
          </a:p>
        </p:txBody>
      </p:sp>
      <p:sp>
        <p:nvSpPr>
          <p:cNvPr id="71" name="Arrow: Curved Down 70">
            <a:extLst>
              <a:ext uri="{FF2B5EF4-FFF2-40B4-BE49-F238E27FC236}">
                <a16:creationId xmlns:a16="http://schemas.microsoft.com/office/drawing/2014/main" id="{517587C1-409A-8505-DFA5-8493EAF0326A}"/>
              </a:ext>
            </a:extLst>
          </p:cNvPr>
          <p:cNvSpPr/>
          <p:nvPr/>
        </p:nvSpPr>
        <p:spPr>
          <a:xfrm rot="1663638" flipV="1">
            <a:off x="1272415" y="2350789"/>
            <a:ext cx="2967947" cy="693925"/>
          </a:xfrm>
          <a:prstGeom prst="curvedDownArrow">
            <a:avLst>
              <a:gd name="adj1" fmla="val 0"/>
              <a:gd name="adj2" fmla="val 8797"/>
              <a:gd name="adj3" fmla="val 11185"/>
            </a:avLst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71909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33780-E05D-662D-54D6-3097FC98E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Consistent Hashing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C1F28-3F3E-3FFB-3BED-6C0ACFA12B74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dirty="0"/>
              <a:t>Problem: Skewed Distribution of Shards to Sites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dirty="0"/>
              <a:t>Proposed Solution:</a:t>
            </a:r>
          </a:p>
          <a:p>
            <a:pPr marL="701675" lvl="2" indent="-342900"/>
            <a:r>
              <a:rPr lang="en-US" dirty="0"/>
              <a:t>Use of multiple hash functions for databases’ position placement</a:t>
            </a:r>
          </a:p>
          <a:p>
            <a:pPr marL="701675" lvl="2" indent="-342900"/>
            <a:r>
              <a:rPr lang="en-US" dirty="0"/>
              <a:t>Use single hash function for all shard keys</a:t>
            </a:r>
          </a:p>
          <a:p>
            <a:pPr marL="701675" lvl="2" indent="-342900"/>
            <a:endParaRPr lang="en-US" dirty="0"/>
          </a:p>
          <a:p>
            <a:pPr algn="ctr"/>
            <a:r>
              <a:rPr lang="en-US" sz="1800" dirty="0"/>
              <a:t>N : Number of available database servers</a:t>
            </a:r>
          </a:p>
          <a:p>
            <a:pPr algn="ctr"/>
            <a:r>
              <a:rPr lang="en-US" sz="1800" dirty="0"/>
              <a:t>K : Number of hash functions to consider</a:t>
            </a:r>
          </a:p>
          <a:p>
            <a:pPr algn="ctr"/>
            <a:r>
              <a:rPr lang="en-US" sz="1800" dirty="0"/>
              <a:t>With: </a:t>
            </a:r>
            <a:r>
              <a:rPr lang="en-US" sz="1800" b="1" dirty="0"/>
              <a:t>K = log(N)</a:t>
            </a:r>
          </a:p>
        </p:txBody>
      </p:sp>
    </p:spTree>
    <p:extLst>
      <p:ext uri="{BB962C8B-B14F-4D97-AF65-F5344CB8AC3E}">
        <p14:creationId xmlns:p14="http://schemas.microsoft.com/office/powerpoint/2010/main" val="11859066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FF603-66AC-F619-A7AF-5B652DD64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Virtual Sites for Skewed Distribution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E69FB58C-7C4F-A38E-4ED1-C357A630EAC0}"/>
              </a:ext>
            </a:extLst>
          </p:cNvPr>
          <p:cNvSpPr/>
          <p:nvPr/>
        </p:nvSpPr>
        <p:spPr>
          <a:xfrm>
            <a:off x="1026711" y="1501623"/>
            <a:ext cx="3240360" cy="3024336"/>
          </a:xfrm>
          <a:prstGeom prst="flowChartConnector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Graphic 10" descr="Database with solid fill">
            <a:extLst>
              <a:ext uri="{FF2B5EF4-FFF2-40B4-BE49-F238E27FC236}">
                <a16:creationId xmlns:a16="http://schemas.microsoft.com/office/drawing/2014/main" id="{98C80738-E7CA-F332-73F7-4BD4662B6E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32428" y="1694159"/>
            <a:ext cx="579282" cy="579282"/>
          </a:xfrm>
          <a:prstGeom prst="rect">
            <a:avLst/>
          </a:prstGeom>
          <a:effectLst/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E8751A8-5184-F582-C354-B8812CEE8C24}"/>
              </a:ext>
            </a:extLst>
          </p:cNvPr>
          <p:cNvSpPr txBox="1"/>
          <p:nvPr/>
        </p:nvSpPr>
        <p:spPr>
          <a:xfrm>
            <a:off x="3773235" y="2796158"/>
            <a:ext cx="5572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ighlight>
                  <a:srgbClr val="FFFF00"/>
                </a:highlight>
              </a:rPr>
              <a:t>H</a:t>
            </a:r>
            <a:r>
              <a:rPr lang="en-US" sz="1100" baseline="-25000" dirty="0">
                <a:highlight>
                  <a:srgbClr val="FFFF00"/>
                </a:highlight>
              </a:rPr>
              <a:t>x</a:t>
            </a:r>
            <a:r>
              <a:rPr lang="en-US" sz="1100" dirty="0">
                <a:highlight>
                  <a:srgbClr val="FFFF00"/>
                </a:highlight>
              </a:rPr>
              <a:t>[</a:t>
            </a:r>
            <a:r>
              <a:rPr lang="en-US" sz="1100" b="1" dirty="0">
                <a:highlight>
                  <a:srgbClr val="FFFF00"/>
                </a:highlight>
              </a:rPr>
              <a:t>S</a:t>
            </a:r>
            <a:r>
              <a:rPr lang="en-US" sz="1100" b="1" baseline="-25000" dirty="0">
                <a:highlight>
                  <a:srgbClr val="FFFF00"/>
                </a:highlight>
              </a:rPr>
              <a:t>0</a:t>
            </a:r>
            <a:r>
              <a:rPr lang="en-US" sz="1100" dirty="0">
                <a:highlight>
                  <a:srgbClr val="FFFF00"/>
                </a:highlight>
              </a:rPr>
              <a:t>]</a:t>
            </a:r>
            <a:endParaRPr lang="en-US" sz="1100" baseline="-25000" dirty="0">
              <a:highlight>
                <a:srgbClr val="FFFF00"/>
              </a:highlight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5309A4-4470-D779-841B-64042DDE6FB3}"/>
              </a:ext>
            </a:extLst>
          </p:cNvPr>
          <p:cNvSpPr txBox="1"/>
          <p:nvPr/>
        </p:nvSpPr>
        <p:spPr>
          <a:xfrm>
            <a:off x="3156540" y="4414583"/>
            <a:ext cx="5765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ighlight>
                  <a:srgbClr val="FFFF00"/>
                </a:highlight>
              </a:rPr>
              <a:t>H</a:t>
            </a:r>
            <a:r>
              <a:rPr lang="en-US" sz="1100" baseline="-25000" dirty="0">
                <a:highlight>
                  <a:srgbClr val="FFFF00"/>
                </a:highlight>
              </a:rPr>
              <a:t>x</a:t>
            </a:r>
            <a:r>
              <a:rPr lang="en-US" sz="1100" dirty="0">
                <a:highlight>
                  <a:srgbClr val="FFFF00"/>
                </a:highlight>
              </a:rPr>
              <a:t>[</a:t>
            </a:r>
            <a:r>
              <a:rPr lang="en-US" sz="1100" b="1" dirty="0">
                <a:highlight>
                  <a:srgbClr val="FFFF00"/>
                </a:highlight>
              </a:rPr>
              <a:t>S</a:t>
            </a:r>
            <a:r>
              <a:rPr lang="en-US" sz="1100" b="1" baseline="-25000" dirty="0">
                <a:highlight>
                  <a:srgbClr val="FFFF00"/>
                </a:highlight>
              </a:rPr>
              <a:t>1</a:t>
            </a:r>
            <a:r>
              <a:rPr lang="en-US" sz="1100" dirty="0">
                <a:highlight>
                  <a:srgbClr val="FFFF00"/>
                </a:highlight>
              </a:rPr>
              <a:t>]</a:t>
            </a:r>
            <a:endParaRPr lang="en-US" sz="1100" baseline="-25000" dirty="0">
              <a:highlight>
                <a:srgbClr val="FFFF00"/>
              </a:highlight>
            </a:endParaRPr>
          </a:p>
        </p:txBody>
      </p:sp>
      <p:pic>
        <p:nvPicPr>
          <p:cNvPr id="24" name="Graphic 23" descr="Database with solid fill">
            <a:extLst>
              <a:ext uri="{FF2B5EF4-FFF2-40B4-BE49-F238E27FC236}">
                <a16:creationId xmlns:a16="http://schemas.microsoft.com/office/drawing/2014/main" id="{66252FA9-4004-7B08-7145-40660510CB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136734" y="2506517"/>
            <a:ext cx="579282" cy="579282"/>
          </a:xfrm>
          <a:prstGeom prst="rect">
            <a:avLst/>
          </a:prstGeom>
          <a:effectLst/>
        </p:spPr>
      </p:pic>
      <p:pic>
        <p:nvPicPr>
          <p:cNvPr id="25" name="Graphic 24" descr="Database with solid fill">
            <a:extLst>
              <a:ext uri="{FF2B5EF4-FFF2-40B4-BE49-F238E27FC236}">
                <a16:creationId xmlns:a16="http://schemas.microsoft.com/office/drawing/2014/main" id="{A80EB45A-99DD-F4D4-1268-89FE979EE3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045047" y="3907895"/>
            <a:ext cx="579282" cy="579282"/>
          </a:xfrm>
          <a:prstGeom prst="rect">
            <a:avLst/>
          </a:prstGeom>
          <a:effectLst/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C7613506-10CD-53A9-C74C-757EEA1404F6}"/>
              </a:ext>
            </a:extLst>
          </p:cNvPr>
          <p:cNvSpPr txBox="1"/>
          <p:nvPr/>
        </p:nvSpPr>
        <p:spPr>
          <a:xfrm>
            <a:off x="3693020" y="1604730"/>
            <a:ext cx="531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H[K</a:t>
            </a:r>
            <a:r>
              <a:rPr lang="en-US" sz="1100" baseline="-25000" dirty="0"/>
              <a:t>0</a:t>
            </a:r>
            <a:r>
              <a:rPr lang="en-US" sz="1100" dirty="0"/>
              <a:t>]</a:t>
            </a:r>
            <a:endParaRPr lang="en-US" sz="1100" baseline="-25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3CF7C5A-9378-B9E9-6E85-43E40B289717}"/>
              </a:ext>
            </a:extLst>
          </p:cNvPr>
          <p:cNvSpPr txBox="1"/>
          <p:nvPr/>
        </p:nvSpPr>
        <p:spPr>
          <a:xfrm>
            <a:off x="4102455" y="2073099"/>
            <a:ext cx="531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H[K</a:t>
            </a:r>
            <a:r>
              <a:rPr lang="en-US" sz="1100" baseline="-25000" dirty="0"/>
              <a:t>1</a:t>
            </a:r>
            <a:r>
              <a:rPr lang="en-US" sz="1100" dirty="0"/>
              <a:t>]</a:t>
            </a:r>
            <a:endParaRPr lang="en-US" sz="1100" baseline="-25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F9A349-F17A-D474-4C08-FAFF7E0950DF}"/>
              </a:ext>
            </a:extLst>
          </p:cNvPr>
          <p:cNvSpPr txBox="1"/>
          <p:nvPr/>
        </p:nvSpPr>
        <p:spPr>
          <a:xfrm>
            <a:off x="3734302" y="4147560"/>
            <a:ext cx="531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H[K</a:t>
            </a:r>
            <a:r>
              <a:rPr lang="en-US" sz="1100" baseline="-25000" dirty="0"/>
              <a:t>2</a:t>
            </a:r>
            <a:r>
              <a:rPr lang="en-US" sz="1100" dirty="0"/>
              <a:t>]</a:t>
            </a:r>
            <a:endParaRPr lang="en-US" sz="1100" baseline="-25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6B8888-7B2C-21BC-9C19-DAA382B730FA}"/>
              </a:ext>
            </a:extLst>
          </p:cNvPr>
          <p:cNvSpPr txBox="1"/>
          <p:nvPr/>
        </p:nvSpPr>
        <p:spPr>
          <a:xfrm>
            <a:off x="1214489" y="4264173"/>
            <a:ext cx="531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H[K</a:t>
            </a:r>
            <a:r>
              <a:rPr lang="en-US" sz="1100" baseline="-25000" dirty="0"/>
              <a:t>4</a:t>
            </a:r>
            <a:r>
              <a:rPr lang="en-US" sz="1100" dirty="0"/>
              <a:t>]</a:t>
            </a:r>
            <a:endParaRPr lang="en-US" sz="1100" baseline="-25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B2A9882-824C-DC1B-0460-1DC37735EE58}"/>
              </a:ext>
            </a:extLst>
          </p:cNvPr>
          <p:cNvSpPr txBox="1"/>
          <p:nvPr/>
        </p:nvSpPr>
        <p:spPr>
          <a:xfrm>
            <a:off x="482152" y="3013791"/>
            <a:ext cx="531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H[K</a:t>
            </a:r>
            <a:r>
              <a:rPr lang="en-US" sz="1100" baseline="-25000" dirty="0"/>
              <a:t>6</a:t>
            </a:r>
            <a:r>
              <a:rPr lang="en-US" sz="1100" dirty="0"/>
              <a:t>]</a:t>
            </a:r>
            <a:endParaRPr lang="en-US" sz="1100" baseline="-25000" dirty="0"/>
          </a:p>
        </p:txBody>
      </p:sp>
      <p:sp>
        <p:nvSpPr>
          <p:cNvPr id="19" name="Gelijkbenige driehoek 18">
            <a:extLst>
              <a:ext uri="{FF2B5EF4-FFF2-40B4-BE49-F238E27FC236}">
                <a16:creationId xmlns:a16="http://schemas.microsoft.com/office/drawing/2014/main" id="{0357FAF3-E2E7-4F0F-B890-263ED8890D05}"/>
              </a:ext>
            </a:extLst>
          </p:cNvPr>
          <p:cNvSpPr/>
          <p:nvPr/>
        </p:nvSpPr>
        <p:spPr>
          <a:xfrm rot="2923878">
            <a:off x="3656648" y="4128807"/>
            <a:ext cx="182880" cy="0"/>
          </a:xfrm>
          <a:prstGeom prst="triangle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endParaRPr lang="fr-FR">
              <a:solidFill>
                <a:srgbClr val="000000"/>
              </a:solidFill>
            </a:endParaRPr>
          </a:p>
        </p:txBody>
      </p:sp>
      <p:sp>
        <p:nvSpPr>
          <p:cNvPr id="47" name="Gelijkbenige driehoek 18">
            <a:extLst>
              <a:ext uri="{FF2B5EF4-FFF2-40B4-BE49-F238E27FC236}">
                <a16:creationId xmlns:a16="http://schemas.microsoft.com/office/drawing/2014/main" id="{275CC2F1-BCC3-E12E-0360-94EE35D2F522}"/>
              </a:ext>
            </a:extLst>
          </p:cNvPr>
          <p:cNvSpPr/>
          <p:nvPr/>
        </p:nvSpPr>
        <p:spPr>
          <a:xfrm rot="18739036">
            <a:off x="1576144" y="4220021"/>
            <a:ext cx="182880" cy="0"/>
          </a:xfrm>
          <a:prstGeom prst="triangle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endParaRPr lang="fr-FR">
              <a:solidFill>
                <a:srgbClr val="000000"/>
              </a:solidFill>
            </a:endParaRPr>
          </a:p>
        </p:txBody>
      </p:sp>
      <p:sp>
        <p:nvSpPr>
          <p:cNvPr id="48" name="Gelijkbenige driehoek 18">
            <a:extLst>
              <a:ext uri="{FF2B5EF4-FFF2-40B4-BE49-F238E27FC236}">
                <a16:creationId xmlns:a16="http://schemas.microsoft.com/office/drawing/2014/main" id="{B71CCFEB-8026-01F4-2361-782569F05CDC}"/>
              </a:ext>
            </a:extLst>
          </p:cNvPr>
          <p:cNvSpPr/>
          <p:nvPr/>
        </p:nvSpPr>
        <p:spPr>
          <a:xfrm>
            <a:off x="1013729" y="2571750"/>
            <a:ext cx="182880" cy="0"/>
          </a:xfrm>
          <a:prstGeom prst="triangle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endParaRPr lang="fr-FR">
              <a:solidFill>
                <a:srgbClr val="000000"/>
              </a:solidFill>
            </a:endParaRPr>
          </a:p>
        </p:txBody>
      </p:sp>
      <p:sp>
        <p:nvSpPr>
          <p:cNvPr id="49" name="Gelijkbenige driehoek 18">
            <a:extLst>
              <a:ext uri="{FF2B5EF4-FFF2-40B4-BE49-F238E27FC236}">
                <a16:creationId xmlns:a16="http://schemas.microsoft.com/office/drawing/2014/main" id="{B07BE291-D7EF-62F1-F518-C004CF76998A}"/>
              </a:ext>
            </a:extLst>
          </p:cNvPr>
          <p:cNvSpPr/>
          <p:nvPr/>
        </p:nvSpPr>
        <p:spPr>
          <a:xfrm rot="19627232">
            <a:off x="3968500" y="2300890"/>
            <a:ext cx="182880" cy="0"/>
          </a:xfrm>
          <a:prstGeom prst="triangle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endParaRPr lang="fr-FR">
              <a:solidFill>
                <a:srgbClr val="000000"/>
              </a:solidFill>
            </a:endParaRPr>
          </a:p>
        </p:txBody>
      </p:sp>
      <p:sp>
        <p:nvSpPr>
          <p:cNvPr id="50" name="Gelijkbenige driehoek 18">
            <a:extLst>
              <a:ext uri="{FF2B5EF4-FFF2-40B4-BE49-F238E27FC236}">
                <a16:creationId xmlns:a16="http://schemas.microsoft.com/office/drawing/2014/main" id="{307CDF29-CA80-1B62-EF6B-C621DF347998}"/>
              </a:ext>
            </a:extLst>
          </p:cNvPr>
          <p:cNvSpPr/>
          <p:nvPr/>
        </p:nvSpPr>
        <p:spPr>
          <a:xfrm rot="18964388">
            <a:off x="3591623" y="1872088"/>
            <a:ext cx="182880" cy="0"/>
          </a:xfrm>
          <a:prstGeom prst="triangle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endParaRPr lang="fr-FR">
              <a:solidFill>
                <a:srgbClr val="000000"/>
              </a:solidFill>
            </a:endParaRPr>
          </a:p>
        </p:txBody>
      </p:sp>
      <p:sp>
        <p:nvSpPr>
          <p:cNvPr id="51" name="Gelijkbenige driehoek 18">
            <a:extLst>
              <a:ext uri="{FF2B5EF4-FFF2-40B4-BE49-F238E27FC236}">
                <a16:creationId xmlns:a16="http://schemas.microsoft.com/office/drawing/2014/main" id="{3EE0D0AF-209F-74D7-3663-8337F66E91C3}"/>
              </a:ext>
            </a:extLst>
          </p:cNvPr>
          <p:cNvSpPr/>
          <p:nvPr/>
        </p:nvSpPr>
        <p:spPr>
          <a:xfrm>
            <a:off x="987896" y="3382781"/>
            <a:ext cx="182880" cy="0"/>
          </a:xfrm>
          <a:prstGeom prst="triangle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endParaRPr lang="fr-FR">
              <a:solidFill>
                <a:srgbClr val="000000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DEE558B-88F8-CE95-E399-FABA4DDDC6F2}"/>
              </a:ext>
            </a:extLst>
          </p:cNvPr>
          <p:cNvSpPr txBox="1"/>
          <p:nvPr/>
        </p:nvSpPr>
        <p:spPr>
          <a:xfrm>
            <a:off x="538035" y="3241355"/>
            <a:ext cx="531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H[K</a:t>
            </a:r>
            <a:r>
              <a:rPr lang="en-US" sz="1100" baseline="-25000" dirty="0"/>
              <a:t>5</a:t>
            </a:r>
            <a:r>
              <a:rPr lang="en-US" sz="1100" dirty="0"/>
              <a:t>]</a:t>
            </a:r>
            <a:endParaRPr lang="en-US" sz="1100" baseline="-25000" dirty="0"/>
          </a:p>
        </p:txBody>
      </p:sp>
      <p:graphicFrame>
        <p:nvGraphicFramePr>
          <p:cNvPr id="53" name="Table 53">
            <a:extLst>
              <a:ext uri="{FF2B5EF4-FFF2-40B4-BE49-F238E27FC236}">
                <a16:creationId xmlns:a16="http://schemas.microsoft.com/office/drawing/2014/main" id="{89F28D67-3B22-2D20-B58E-81D5FD4D41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8888279"/>
              </p:ext>
            </p:extLst>
          </p:nvPr>
        </p:nvGraphicFramePr>
        <p:xfrm>
          <a:off x="5369223" y="2241163"/>
          <a:ext cx="3279643" cy="1097280"/>
        </p:xfrm>
        <a:graphic>
          <a:graphicData uri="http://schemas.openxmlformats.org/drawingml/2006/table">
            <a:tbl>
              <a:tblPr firstRow="1" bandRow="1">
                <a:tableStyleId>{D27102A9-8310-4765-A935-A1911B00CA55}</a:tableStyleId>
              </a:tblPr>
              <a:tblGrid>
                <a:gridCol w="1285562">
                  <a:extLst>
                    <a:ext uri="{9D8B030D-6E8A-4147-A177-3AD203B41FA5}">
                      <a16:colId xmlns:a16="http://schemas.microsoft.com/office/drawing/2014/main" val="4058503580"/>
                    </a:ext>
                  </a:extLst>
                </a:gridCol>
                <a:gridCol w="1994081">
                  <a:extLst>
                    <a:ext uri="{9D8B030D-6E8A-4147-A177-3AD203B41FA5}">
                      <a16:colId xmlns:a16="http://schemas.microsoft.com/office/drawing/2014/main" val="3775725780"/>
                    </a:ext>
                  </a:extLst>
                </a:gridCol>
              </a:tblGrid>
              <a:tr h="220343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Sites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Keys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86955979"/>
                  </a:ext>
                </a:extLst>
              </a:tr>
              <a:tr h="220343">
                <a:tc>
                  <a:txBody>
                    <a:bodyPr/>
                    <a:lstStyle/>
                    <a:p>
                      <a:pPr algn="ctr"/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endParaRPr lang="en-US" sz="120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K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K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K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015025456"/>
                  </a:ext>
                </a:extLst>
              </a:tr>
              <a:tr h="2203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en-US" sz="120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K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167164546"/>
                  </a:ext>
                </a:extLst>
              </a:tr>
              <a:tr h="2203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en-US" sz="120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K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K</a:t>
                      </a:r>
                      <a:r>
                        <a:rPr kumimoji="0" lang="en-US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841353563"/>
                  </a:ext>
                </a:extLst>
              </a:tr>
            </a:tbl>
          </a:graphicData>
        </a:graphic>
      </p:graphicFrame>
      <p:sp>
        <p:nvSpPr>
          <p:cNvPr id="55" name="Arrow: Curved Down 54">
            <a:extLst>
              <a:ext uri="{FF2B5EF4-FFF2-40B4-BE49-F238E27FC236}">
                <a16:creationId xmlns:a16="http://schemas.microsoft.com/office/drawing/2014/main" id="{E5B64572-A671-6B80-8E8E-9DC5AE12F1B8}"/>
              </a:ext>
            </a:extLst>
          </p:cNvPr>
          <p:cNvSpPr/>
          <p:nvPr/>
        </p:nvSpPr>
        <p:spPr>
          <a:xfrm rot="3651209">
            <a:off x="4005256" y="2042967"/>
            <a:ext cx="1135222" cy="288122"/>
          </a:xfrm>
          <a:prstGeom prst="curvedDownArrow">
            <a:avLst>
              <a:gd name="adj1" fmla="val 0"/>
              <a:gd name="adj2" fmla="val 33148"/>
              <a:gd name="adj3" fmla="val 28475"/>
            </a:avLst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6" name="Arrow: Curved Down 55">
            <a:extLst>
              <a:ext uri="{FF2B5EF4-FFF2-40B4-BE49-F238E27FC236}">
                <a16:creationId xmlns:a16="http://schemas.microsoft.com/office/drawing/2014/main" id="{93590138-EA3D-7BB8-AECB-FFCBB15FF4E6}"/>
              </a:ext>
            </a:extLst>
          </p:cNvPr>
          <p:cNvSpPr/>
          <p:nvPr/>
        </p:nvSpPr>
        <p:spPr>
          <a:xfrm rot="4891438">
            <a:off x="4480499" y="2307799"/>
            <a:ext cx="716821" cy="467337"/>
          </a:xfrm>
          <a:prstGeom prst="curvedDownArrow">
            <a:avLst>
              <a:gd name="adj1" fmla="val 0"/>
              <a:gd name="adj2" fmla="val 20243"/>
              <a:gd name="adj3" fmla="val 17708"/>
            </a:avLst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7" name="Gelijkbenige driehoek 18">
            <a:extLst>
              <a:ext uri="{FF2B5EF4-FFF2-40B4-BE49-F238E27FC236}">
                <a16:creationId xmlns:a16="http://schemas.microsoft.com/office/drawing/2014/main" id="{45577E06-D59A-137A-BEEF-5A05BA5B41A2}"/>
              </a:ext>
            </a:extLst>
          </p:cNvPr>
          <p:cNvSpPr/>
          <p:nvPr/>
        </p:nvSpPr>
        <p:spPr>
          <a:xfrm rot="5400000">
            <a:off x="2210316" y="4501052"/>
            <a:ext cx="182880" cy="0"/>
          </a:xfrm>
          <a:prstGeom prst="triangle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endParaRPr lang="fr-FR">
              <a:solidFill>
                <a:srgbClr val="000000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F39EB99-DF00-518A-0EC4-F44798A32E6F}"/>
              </a:ext>
            </a:extLst>
          </p:cNvPr>
          <p:cNvSpPr txBox="1"/>
          <p:nvPr/>
        </p:nvSpPr>
        <p:spPr>
          <a:xfrm>
            <a:off x="2035967" y="4545388"/>
            <a:ext cx="531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H[K</a:t>
            </a:r>
            <a:r>
              <a:rPr lang="en-US" sz="1100" baseline="-25000" dirty="0"/>
              <a:t>3</a:t>
            </a:r>
            <a:r>
              <a:rPr lang="en-US" sz="1100" dirty="0"/>
              <a:t>]</a:t>
            </a:r>
            <a:endParaRPr lang="en-US" sz="1100" baseline="-25000" dirty="0"/>
          </a:p>
        </p:txBody>
      </p:sp>
      <p:sp>
        <p:nvSpPr>
          <p:cNvPr id="63" name="Gelijkbenige driehoek 18">
            <a:extLst>
              <a:ext uri="{FF2B5EF4-FFF2-40B4-BE49-F238E27FC236}">
                <a16:creationId xmlns:a16="http://schemas.microsoft.com/office/drawing/2014/main" id="{6C421B3E-B981-3DBB-3749-8F40D430843F}"/>
              </a:ext>
            </a:extLst>
          </p:cNvPr>
          <p:cNvSpPr/>
          <p:nvPr/>
        </p:nvSpPr>
        <p:spPr>
          <a:xfrm rot="2673757">
            <a:off x="1763688" y="1688084"/>
            <a:ext cx="182880" cy="0"/>
          </a:xfrm>
          <a:prstGeom prst="triangle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endParaRPr lang="fr-FR">
              <a:solidFill>
                <a:srgbClr val="0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20E9AA-A1CC-AD0D-E18C-394D470A725D}"/>
              </a:ext>
            </a:extLst>
          </p:cNvPr>
          <p:cNvSpPr txBox="1"/>
          <p:nvPr/>
        </p:nvSpPr>
        <p:spPr>
          <a:xfrm>
            <a:off x="1340234" y="1422186"/>
            <a:ext cx="531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H[K</a:t>
            </a:r>
            <a:r>
              <a:rPr lang="en-US" sz="1100" baseline="-25000" dirty="0"/>
              <a:t>8</a:t>
            </a:r>
            <a:r>
              <a:rPr lang="en-US" sz="1100" dirty="0"/>
              <a:t>]</a:t>
            </a:r>
            <a:endParaRPr lang="en-US" sz="1100" baseline="-25000" dirty="0"/>
          </a:p>
        </p:txBody>
      </p:sp>
      <p:sp>
        <p:nvSpPr>
          <p:cNvPr id="68" name="Gelijkbenige driehoek 18">
            <a:extLst>
              <a:ext uri="{FF2B5EF4-FFF2-40B4-BE49-F238E27FC236}">
                <a16:creationId xmlns:a16="http://schemas.microsoft.com/office/drawing/2014/main" id="{A97AC165-300E-3EDA-1062-46F31AAD55C2}"/>
              </a:ext>
            </a:extLst>
          </p:cNvPr>
          <p:cNvSpPr/>
          <p:nvPr/>
        </p:nvSpPr>
        <p:spPr>
          <a:xfrm>
            <a:off x="935271" y="3161917"/>
            <a:ext cx="182880" cy="0"/>
          </a:xfrm>
          <a:prstGeom prst="triangle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endParaRPr lang="fr-FR">
              <a:solidFill>
                <a:srgbClr val="000000"/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0F1F3FD-C2DE-B4ED-152F-4C036305C1ED}"/>
              </a:ext>
            </a:extLst>
          </p:cNvPr>
          <p:cNvSpPr txBox="1"/>
          <p:nvPr/>
        </p:nvSpPr>
        <p:spPr>
          <a:xfrm>
            <a:off x="564784" y="2439185"/>
            <a:ext cx="531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H[K</a:t>
            </a:r>
            <a:r>
              <a:rPr lang="en-US" sz="1100" baseline="-25000" dirty="0"/>
              <a:t>7</a:t>
            </a:r>
            <a:r>
              <a:rPr lang="en-US" sz="1100" dirty="0"/>
              <a:t>]</a:t>
            </a:r>
            <a:endParaRPr lang="en-US" sz="1100" baseline="-25000" dirty="0"/>
          </a:p>
        </p:txBody>
      </p:sp>
      <p:pic>
        <p:nvPicPr>
          <p:cNvPr id="3" name="Graphic 2" descr="Database with solid fill">
            <a:extLst>
              <a:ext uri="{FF2B5EF4-FFF2-40B4-BE49-F238E27FC236}">
                <a16:creationId xmlns:a16="http://schemas.microsoft.com/office/drawing/2014/main" id="{EBA3CE84-28F5-2FCF-C4AF-838BBD96A4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943448" y="1135653"/>
            <a:ext cx="579282" cy="579282"/>
          </a:xfrm>
          <a:prstGeom prst="rect">
            <a:avLst/>
          </a:prstGeom>
          <a:effectLst/>
        </p:spPr>
      </p:pic>
      <p:pic>
        <p:nvPicPr>
          <p:cNvPr id="5" name="Graphic 4" descr="Database with solid fill">
            <a:extLst>
              <a:ext uri="{FF2B5EF4-FFF2-40B4-BE49-F238E27FC236}">
                <a16:creationId xmlns:a16="http://schemas.microsoft.com/office/drawing/2014/main" id="{39AF6976-D4D8-80E4-3E85-31C5F54E73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176224" y="3443688"/>
            <a:ext cx="579282" cy="579282"/>
          </a:xfrm>
          <a:prstGeom prst="rect">
            <a:avLst/>
          </a:prstGeom>
          <a:effectLst/>
        </p:spPr>
      </p:pic>
      <p:pic>
        <p:nvPicPr>
          <p:cNvPr id="6" name="Graphic 5" descr="Database with solid fill">
            <a:extLst>
              <a:ext uri="{FF2B5EF4-FFF2-40B4-BE49-F238E27FC236}">
                <a16:creationId xmlns:a16="http://schemas.microsoft.com/office/drawing/2014/main" id="{C514143A-D40E-1EFC-9DD6-B7CE8609B0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97946" y="2582459"/>
            <a:ext cx="579282" cy="579282"/>
          </a:xfrm>
          <a:prstGeom prst="rect">
            <a:avLst/>
          </a:prstGeom>
          <a:effectLst/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CE10D4D-2A5A-C178-8303-41F22ABC3EF1}"/>
              </a:ext>
            </a:extLst>
          </p:cNvPr>
          <p:cNvSpPr txBox="1"/>
          <p:nvPr/>
        </p:nvSpPr>
        <p:spPr>
          <a:xfrm>
            <a:off x="1583526" y="3652649"/>
            <a:ext cx="5765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ighlight>
                  <a:srgbClr val="FFFF00"/>
                </a:highlight>
              </a:rPr>
              <a:t>H</a:t>
            </a:r>
            <a:r>
              <a:rPr lang="en-US" sz="1100" baseline="-25000" dirty="0">
                <a:highlight>
                  <a:srgbClr val="FFFF00"/>
                </a:highlight>
              </a:rPr>
              <a:t>y</a:t>
            </a:r>
            <a:r>
              <a:rPr lang="en-US" sz="1100" dirty="0">
                <a:highlight>
                  <a:srgbClr val="FFFF00"/>
                </a:highlight>
              </a:rPr>
              <a:t>[</a:t>
            </a:r>
            <a:r>
              <a:rPr lang="en-US" sz="1100" b="1" dirty="0">
                <a:highlight>
                  <a:srgbClr val="FFFF00"/>
                </a:highlight>
              </a:rPr>
              <a:t>S</a:t>
            </a:r>
            <a:r>
              <a:rPr lang="en-US" sz="1100" b="1" baseline="-25000" dirty="0">
                <a:highlight>
                  <a:srgbClr val="FFFF00"/>
                </a:highlight>
              </a:rPr>
              <a:t>0</a:t>
            </a:r>
            <a:r>
              <a:rPr lang="en-US" sz="1100" dirty="0">
                <a:highlight>
                  <a:srgbClr val="FFFF00"/>
                </a:highlight>
              </a:rPr>
              <a:t>]</a:t>
            </a:r>
            <a:endParaRPr lang="en-US" sz="1100" baseline="-25000" dirty="0">
              <a:highlight>
                <a:srgbClr val="FFFF00"/>
              </a:highlight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22F3E5-BA2F-E06B-7EF2-DF7C5A07F79E}"/>
              </a:ext>
            </a:extLst>
          </p:cNvPr>
          <p:cNvSpPr txBox="1"/>
          <p:nvPr/>
        </p:nvSpPr>
        <p:spPr>
          <a:xfrm>
            <a:off x="1220605" y="2769414"/>
            <a:ext cx="5765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ighlight>
                  <a:srgbClr val="FFFF00"/>
                </a:highlight>
              </a:rPr>
              <a:t>H</a:t>
            </a:r>
            <a:r>
              <a:rPr lang="en-US" sz="1100" baseline="-25000" dirty="0">
                <a:highlight>
                  <a:srgbClr val="FFFF00"/>
                </a:highlight>
              </a:rPr>
              <a:t>x</a:t>
            </a:r>
            <a:r>
              <a:rPr lang="en-US" sz="1100" dirty="0">
                <a:highlight>
                  <a:srgbClr val="FFFF00"/>
                </a:highlight>
              </a:rPr>
              <a:t>[</a:t>
            </a:r>
            <a:r>
              <a:rPr lang="en-US" sz="1100" b="1" dirty="0">
                <a:highlight>
                  <a:srgbClr val="FFFF00"/>
                </a:highlight>
              </a:rPr>
              <a:t>S</a:t>
            </a:r>
            <a:r>
              <a:rPr lang="en-US" sz="1100" b="1" baseline="-25000" dirty="0">
                <a:highlight>
                  <a:srgbClr val="FFFF00"/>
                </a:highlight>
              </a:rPr>
              <a:t>2</a:t>
            </a:r>
            <a:r>
              <a:rPr lang="en-US" sz="1100" dirty="0">
                <a:highlight>
                  <a:srgbClr val="FFFF00"/>
                </a:highlight>
              </a:rPr>
              <a:t>]</a:t>
            </a:r>
            <a:endParaRPr lang="en-US" sz="1100" baseline="-25000" dirty="0">
              <a:highlight>
                <a:srgbClr val="FFFF00"/>
              </a:highligh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609CF4-7B76-AE1F-86B0-0C62164D994A}"/>
              </a:ext>
            </a:extLst>
          </p:cNvPr>
          <p:cNvSpPr txBox="1"/>
          <p:nvPr/>
        </p:nvSpPr>
        <p:spPr>
          <a:xfrm>
            <a:off x="2801824" y="1625316"/>
            <a:ext cx="5765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ighlight>
                  <a:srgbClr val="FFFF00"/>
                </a:highlight>
              </a:rPr>
              <a:t>H</a:t>
            </a:r>
            <a:r>
              <a:rPr lang="en-US" sz="1100" baseline="-25000" dirty="0">
                <a:highlight>
                  <a:srgbClr val="FFFF00"/>
                </a:highlight>
              </a:rPr>
              <a:t>y</a:t>
            </a:r>
            <a:r>
              <a:rPr lang="en-US" sz="1100" dirty="0">
                <a:highlight>
                  <a:srgbClr val="FFFF00"/>
                </a:highlight>
              </a:rPr>
              <a:t>[</a:t>
            </a:r>
            <a:r>
              <a:rPr lang="en-US" sz="1100" b="1" dirty="0">
                <a:highlight>
                  <a:srgbClr val="FFFF00"/>
                </a:highlight>
              </a:rPr>
              <a:t>S</a:t>
            </a:r>
            <a:r>
              <a:rPr lang="en-US" sz="1100" b="1" baseline="-25000" dirty="0">
                <a:highlight>
                  <a:srgbClr val="FFFF00"/>
                </a:highlight>
              </a:rPr>
              <a:t>2</a:t>
            </a:r>
            <a:r>
              <a:rPr lang="en-US" sz="1100" dirty="0">
                <a:highlight>
                  <a:srgbClr val="FFFF00"/>
                </a:highlight>
              </a:rPr>
              <a:t>]</a:t>
            </a:r>
            <a:endParaRPr lang="en-US" sz="1100" baseline="-25000" dirty="0">
              <a:highlight>
                <a:srgbClr val="FFFF00"/>
              </a:highlight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2B4A55-182C-6EF0-C737-A903FFE9D364}"/>
              </a:ext>
            </a:extLst>
          </p:cNvPr>
          <p:cNvSpPr txBox="1"/>
          <p:nvPr/>
        </p:nvSpPr>
        <p:spPr>
          <a:xfrm>
            <a:off x="1287226" y="2079646"/>
            <a:ext cx="5765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ighlight>
                  <a:srgbClr val="FFFF00"/>
                </a:highlight>
              </a:rPr>
              <a:t>H</a:t>
            </a:r>
            <a:r>
              <a:rPr lang="en-US" sz="1100" baseline="-25000" dirty="0">
                <a:highlight>
                  <a:srgbClr val="FFFF00"/>
                </a:highlight>
              </a:rPr>
              <a:t>y</a:t>
            </a:r>
            <a:r>
              <a:rPr lang="en-US" sz="1100" dirty="0">
                <a:highlight>
                  <a:srgbClr val="FFFF00"/>
                </a:highlight>
              </a:rPr>
              <a:t>[</a:t>
            </a:r>
            <a:r>
              <a:rPr lang="en-US" sz="1100" b="1" dirty="0">
                <a:highlight>
                  <a:srgbClr val="FFFF00"/>
                </a:highlight>
              </a:rPr>
              <a:t>S</a:t>
            </a:r>
            <a:r>
              <a:rPr lang="en-US" sz="1100" b="1" baseline="-25000" dirty="0">
                <a:highlight>
                  <a:srgbClr val="FFFF00"/>
                </a:highlight>
              </a:rPr>
              <a:t>1</a:t>
            </a:r>
            <a:r>
              <a:rPr lang="en-US" sz="1100" dirty="0">
                <a:highlight>
                  <a:srgbClr val="FFFF00"/>
                </a:highlight>
              </a:rPr>
              <a:t>]</a:t>
            </a:r>
            <a:endParaRPr lang="en-US" sz="1100" baseline="-250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5006436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119BA-522E-4F1A-D43E-7842257FB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Sharding Algorithm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94944-37B1-D75C-AEE2-A580F68A6267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80490" y="1185474"/>
            <a:ext cx="8783998" cy="3591314"/>
          </a:xfrm>
        </p:spPr>
        <p:txBody>
          <a:bodyPr/>
          <a:lstStyle/>
          <a:p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consistent_hash_sharding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(n):		# n: number of virtual sites for each physical site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ring = {}			# key-value map (dictionary) with key as a site identifier and value as site URL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sorted_keys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[]		# sorted keys (site identifiers) in ascending order for the placement in a ring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function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add_site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site_name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):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for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range(n):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virtual_site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site_name:string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pos</a:t>
            </a:r>
            <a:r>
              <a:rPr lang="en-US" sz="1200" baseline="-25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hash</a:t>
            </a:r>
            <a:r>
              <a:rPr lang="en-US" sz="1200" baseline="-25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virtual_site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% 360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pos</a:t>
            </a:r>
            <a:r>
              <a:rPr lang="en-US" sz="1200" baseline="-25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hash</a:t>
            </a:r>
            <a:r>
              <a:rPr lang="en-US" sz="1200" baseline="-25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virtual_site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% 360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ring[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pos</a:t>
            </a:r>
            <a:r>
              <a:rPr lang="en-US" sz="1200" baseline="-25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=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site_name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ring[pos</a:t>
            </a:r>
            <a:r>
              <a:rPr lang="en-US" sz="1200" baseline="-25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=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site_name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sorted_keys.append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pos</a:t>
            </a:r>
            <a:r>
              <a:rPr lang="en-US" sz="1200" baseline="-25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en-US" sz="1200" baseline="-25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,pos</a:t>
            </a:r>
            <a:r>
              <a:rPr lang="en-US" sz="1200" baseline="-25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sorted_keys.sort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	</a:t>
            </a:r>
          </a:p>
        </p:txBody>
      </p:sp>
    </p:spTree>
    <p:extLst>
      <p:ext uri="{BB962C8B-B14F-4D97-AF65-F5344CB8AC3E}">
        <p14:creationId xmlns:p14="http://schemas.microsoft.com/office/powerpoint/2010/main" val="31361330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119BA-522E-4F1A-D43E-7842257FB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Sharding Algorithm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94944-37B1-D75C-AEE2-A580F68A6267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80490" y="1185474"/>
            <a:ext cx="8783998" cy="3591314"/>
          </a:xfrm>
        </p:spPr>
        <p:txBody>
          <a:bodyPr/>
          <a:lstStyle/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function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remove_site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site_name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):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for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range(n):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virtual_site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site_name:string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pos</a:t>
            </a:r>
            <a:r>
              <a:rPr lang="en-US" sz="1200" baseline="-25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hash</a:t>
            </a:r>
            <a:r>
              <a:rPr lang="en-US" sz="1200" baseline="-25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virtual_site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% 360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pos</a:t>
            </a:r>
            <a:r>
              <a:rPr lang="en-US" sz="1200" baseline="-25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hash</a:t>
            </a:r>
            <a:r>
              <a:rPr lang="en-US" sz="1200" baseline="-25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virtual_site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% 360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ring.delete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pos</a:t>
            </a:r>
            <a:r>
              <a:rPr lang="en-US" sz="1200" baseline="-25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pos</a:t>
            </a:r>
            <a:r>
              <a:rPr lang="en-US" sz="1200" baseline="-25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sorted_keys.remove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pos</a:t>
            </a:r>
            <a:r>
              <a:rPr lang="en-US" sz="1200" baseline="-25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pos</a:t>
            </a:r>
            <a:r>
              <a:rPr lang="en-US" sz="1200" baseline="-25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	</a:t>
            </a:r>
          </a:p>
        </p:txBody>
      </p:sp>
    </p:spTree>
    <p:extLst>
      <p:ext uri="{BB962C8B-B14F-4D97-AF65-F5344CB8AC3E}">
        <p14:creationId xmlns:p14="http://schemas.microsoft.com/office/powerpoint/2010/main" val="24823467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119BA-522E-4F1A-D43E-7842257FB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Sharding Algorithm (3)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94944-37B1-D75C-AEE2-A580F68A6267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80490" y="1185474"/>
            <a:ext cx="8783998" cy="3591314"/>
          </a:xfrm>
        </p:spPr>
        <p:txBody>
          <a:bodyPr/>
          <a:lstStyle/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function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get_site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(key):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if ring is Empty: return None			# ring is not initialized, no sites are present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k =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hash_function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(key) % 360			# use one of the hash functions used in hashing sites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for index,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site_hash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enumerate(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sorted_keys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):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if k &lt;=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site_hash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	return index		# index to determine designated site to store the passed key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return 0</a:t>
            </a:r>
          </a:p>
        </p:txBody>
      </p:sp>
    </p:spTree>
    <p:extLst>
      <p:ext uri="{BB962C8B-B14F-4D97-AF65-F5344CB8AC3E}">
        <p14:creationId xmlns:p14="http://schemas.microsoft.com/office/powerpoint/2010/main" val="23433388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7D204-9C1C-5EE6-C8ED-FCB7EB717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Operations: 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A571A-5F05-C1B9-FAFD-77A535DC0B48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 set(k, mapping):			# k: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&lt;Unique-Identifier&gt; int, mapping: value to be stored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key = 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userID:string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(k)			# key: string schema</a:t>
            </a: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site_id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get_site_sharding_algorithm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(key)	# get designated site from key</a:t>
            </a: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redis_db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site_id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].set(key, mapping)</a:t>
            </a:r>
          </a:p>
          <a:p>
            <a:endParaRPr lang="en-GB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----------------------------------------------------------------------------------------------------------------------------------------------------------------------------------------------</a:t>
            </a:r>
          </a:p>
          <a:p>
            <a:endParaRPr lang="en-GB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 set(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key_list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mapping_list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):		#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key_list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list of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&lt;Unique-Identifier&gt; int, 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mapping_list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list of values to be stored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foreach k, mapping in zip(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key_list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mapping_list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):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key = 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userID:string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(k)			# key: string schema</a:t>
            </a: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site_id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get_site_sharding_algorithm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(key)		# get designated site from key</a:t>
            </a: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redis_db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site_id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].set(key, mapping)</a:t>
            </a:r>
          </a:p>
          <a:p>
            <a:endParaRPr lang="en-GB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0151808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7D204-9C1C-5EE6-C8ED-FCB7EB717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Operations: Get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A571A-5F05-C1B9-FAFD-77A535DC0B48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80490" y="1185474"/>
            <a:ext cx="8783998" cy="3591314"/>
          </a:xfrm>
        </p:spPr>
        <p:txBody>
          <a:bodyPr/>
          <a:lstStyle/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 get(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key_list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):		#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key_list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list of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&lt;Unique-Identifier&gt; int</a:t>
            </a: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result = [] 			# result as list, containing mappings of each key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foreach k in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key_list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try: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key = 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userID:string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(k)			# key: string schema</a:t>
            </a: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site_id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get_site_sharding_algorithm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(key)		# get designated site from key</a:t>
            </a: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values = 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redis_db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site_id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].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getAll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(key, mapping)	# get all values associated with the key</a:t>
            </a: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result.append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(values)</a:t>
            </a: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except 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KeyError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Log(Key does not exist)</a:t>
            </a: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return result</a:t>
            </a:r>
          </a:p>
          <a:p>
            <a:endParaRPr lang="en-GB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40256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7D204-9C1C-5EE6-C8ED-FCB7EB717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Operations: Get-Range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A571A-5F05-C1B9-FAFD-77A535DC0B48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get_range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(start, end):		# start-key: &lt;Unique-Identifier&gt;, end-key: &lt;Unique-Identifier&gt;</a:t>
            </a:r>
            <a:endParaRPr lang="en-GB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result = [] 				# result as list, containing values associated with each key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for i in range(start, end + 1):		# [start, end] inclusive range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key = 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userID:string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				# key: string schema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try:</a:t>
            </a:r>
            <a:endParaRPr lang="en-GB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site_id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get_site_sharding_algorithm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(key)		# get designated site from key</a:t>
            </a: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values = 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redis_db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site_id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].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getAll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(key)</a:t>
            </a: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result.append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(values)</a:t>
            </a: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except 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KeyError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continue				# Non-existent keys have no side effect</a:t>
            </a: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return result					# return list of values from only existent keys</a:t>
            </a: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63665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7D204-9C1C-5EE6-C8ED-FCB7EB717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A571A-5F05-C1B9-FAFD-77A535DC0B48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80490" y="1185474"/>
            <a:ext cx="8783998" cy="3591314"/>
          </a:xfrm>
        </p:spPr>
        <p:txBody>
          <a:bodyPr/>
          <a:lstStyle/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 delete(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keys_list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):	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foreach k in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keys_list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		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key = 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userID:string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(k)				# key: string schema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try:</a:t>
            </a:r>
            <a:endParaRPr lang="en-GB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site_id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get_site_sharding_algorithm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(key)		# get designated site from key</a:t>
            </a: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pipe= 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redis_db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site_id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].pipeline()		# set a pipeline to designated site</a:t>
            </a: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pipe.watch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(key)			# acquire lock to key</a:t>
            </a: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pipe.multi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pipe.delete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				# queue delete calls to the pipeline</a:t>
            </a: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except 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KeyError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		Error(Key does not exist)			# Non-existent keys have no side</a:t>
            </a:r>
          </a:p>
          <a:p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GB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pipe.execute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					# execute all calls atomically</a:t>
            </a:r>
          </a:p>
          <a:p>
            <a:endParaRPr lang="en-US" sz="3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3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34192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052F2-F0BA-970F-FE3D-A82CAFA58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0C2A1E-4477-ED52-5826-35750ECEC869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pPr marL="342900" indent="-342900">
              <a:buFontTx/>
              <a:buChar char="-"/>
            </a:pPr>
            <a:r>
              <a:rPr lang="en-US" i="1" dirty="0"/>
              <a:t>Reference: Excel sheets (1.Profiling and 2.Profiling) for time profiling</a:t>
            </a:r>
          </a:p>
          <a:p>
            <a:pPr marL="342900" indent="-342900">
              <a:buFontTx/>
              <a:buChar char="-"/>
            </a:pPr>
            <a:r>
              <a:rPr lang="en-US" i="1" dirty="0"/>
              <a:t>Location: /</a:t>
            </a:r>
            <a:r>
              <a:rPr lang="en-US" i="1" dirty="0" err="1"/>
              <a:t>Performance_Profiling</a:t>
            </a:r>
            <a:r>
              <a:rPr lang="en-US" i="1" dirty="0"/>
              <a:t>/Time_Profiling.xlsx</a:t>
            </a:r>
          </a:p>
        </p:txBody>
      </p:sp>
    </p:spTree>
    <p:extLst>
      <p:ext uri="{BB962C8B-B14F-4D97-AF65-F5344CB8AC3E}">
        <p14:creationId xmlns:p14="http://schemas.microsoft.com/office/powerpoint/2010/main" val="574103653"/>
      </p:ext>
    </p:extLst>
  </p:cSld>
  <p:clrMapOvr>
    <a:masterClrMapping/>
  </p:clrMapOvr>
</p:sld>
</file>

<file path=ppt/theme/theme1.xml><?xml version="1.0" encoding="utf-8"?>
<a:theme xmlns:a="http://schemas.openxmlformats.org/drawingml/2006/main" name="Thesis_Shrestha_Ritesh">
  <a:themeElements>
    <a:clrScheme name="v1_TUD_Präsentation_ro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v1_TUD_Präsentation_ro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v1_TUD_Präsentation_ro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1_TUD_Präsentation_ro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1_TUD_Präsentation_ro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1_TUD_Präsentation_ro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1_TUD_Präsentation_ro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1_TUD_Präsentation_ro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Präsentationsvorlage_BWL9</Template>
  <TotalTime>3795</TotalTime>
  <Words>1997</Words>
  <Application>Microsoft Office PowerPoint</Application>
  <PresentationFormat>On-screen Show (16:9)</PresentationFormat>
  <Paragraphs>271</Paragraphs>
  <Slides>25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Bitstream Charter</vt:lpstr>
      <vt:lpstr>Calibri</vt:lpstr>
      <vt:lpstr>Stafford</vt:lpstr>
      <vt:lpstr>Wingdings</vt:lpstr>
      <vt:lpstr>Thesis_Shrestha_Ritesh</vt:lpstr>
      <vt:lpstr>Study and Evaluation of Sharded Distributed Databases</vt:lpstr>
      <vt:lpstr>Motivation</vt:lpstr>
      <vt:lpstr>System Design (Abstract Overview)</vt:lpstr>
      <vt:lpstr>Communication Architecture</vt:lpstr>
      <vt:lpstr>Communication: Client-to-Middleware</vt:lpstr>
      <vt:lpstr>Communication: Middleware-to-Databases</vt:lpstr>
      <vt:lpstr>Middleware Architecture </vt:lpstr>
      <vt:lpstr>Middleware Main Components</vt:lpstr>
      <vt:lpstr>Middleware Design Considerations</vt:lpstr>
      <vt:lpstr>Middleware Design Considerations</vt:lpstr>
      <vt:lpstr>Middleware Design Considerations</vt:lpstr>
      <vt:lpstr>Middleware Design Considerations</vt:lpstr>
      <vt:lpstr>Sharded Distributed Databases</vt:lpstr>
      <vt:lpstr>Sharding Design (Consistent Hashing)</vt:lpstr>
      <vt:lpstr>Consistent Hashing (1)</vt:lpstr>
      <vt:lpstr>Consistent Hashing (2)</vt:lpstr>
      <vt:lpstr>Adding Virtual Sites for Skewed Distribution</vt:lpstr>
      <vt:lpstr>Sharding Algorithm (1)</vt:lpstr>
      <vt:lpstr>Sharding Algorithm (2)</vt:lpstr>
      <vt:lpstr>Sharding Algorithm (3)</vt:lpstr>
      <vt:lpstr>Operations: Set</vt:lpstr>
      <vt:lpstr>Operations: Get</vt:lpstr>
      <vt:lpstr>Operations: Get-Range</vt:lpstr>
      <vt:lpstr>Operations: Delete</vt:lpstr>
      <vt:lpstr>Evaluation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Moritz Lohse</dc:creator>
  <cp:lastModifiedBy>Ritesh Shrestha</cp:lastModifiedBy>
  <cp:revision>250</cp:revision>
  <dcterms:created xsi:type="dcterms:W3CDTF">2009-12-23T09:42:49Z</dcterms:created>
  <dcterms:modified xsi:type="dcterms:W3CDTF">2023-01-31T10:39:19Z</dcterms:modified>
</cp:coreProperties>
</file>